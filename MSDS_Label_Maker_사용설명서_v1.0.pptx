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7" r:id="rId7"/>
    <p:sldId id="268" r:id="rId8"/>
    <p:sldId id="260" r:id="rId9"/>
    <p:sldId id="261" r:id="rId10"/>
    <p:sldId id="262" r:id="rId11"/>
    <p:sldId id="263" r:id="rId12"/>
    <p:sldId id="265" r:id="rId13"/>
    <p:sldId id="266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D7305-F116-4077-AD0D-F75D3193EE9F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DBEE4-67AE-4B7B-A580-FA16DD9DB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324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F723B-9A93-88F0-85B7-7F6637D1F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90B095-E01D-FC3D-4AEC-65BEB6319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1BAEF7-ECEA-4BB6-610D-7BF352F43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FA9A8C-F2BA-6A02-DFC9-8367DAC40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DBEE4-67AE-4B7B-A580-FA16DD9DBB8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620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DBEE4-67AE-4B7B-A580-FA16DD9DBB8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854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731520"/>
            <a:ext cx="67665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88720" y="731520"/>
            <a:ext cx="6766560" cy="64008"/>
          </a:xfrm>
          <a:prstGeom prst="rect">
            <a:avLst/>
          </a:prstGeom>
          <a:solidFill>
            <a:srgbClr val="02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60520" y="1005840"/>
            <a:ext cx="914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0" i="0">
                <a:solidFill>
                  <a:srgbClr val="0D8E8E"/>
                </a:solidFill>
                <a:latin typeface="Malgun Gothic"/>
              </a:rPr>
              <a:t>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6766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1B2B4B"/>
                </a:solidFill>
                <a:latin typeface="Malgun Gothic"/>
              </a:rPr>
              <a:t>MSDS Label Maker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4446" y="2304288"/>
            <a:ext cx="6351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 dirty="0">
                <a:solidFill>
                  <a:srgbClr val="0D8E8E"/>
                </a:solidFill>
                <a:latin typeface="Malgun Gothic"/>
              </a:rPr>
              <a:t>v</a:t>
            </a:r>
            <a:r>
              <a:rPr lang="en-US" sz="1800" b="1" i="0" dirty="0">
                <a:solidFill>
                  <a:srgbClr val="0D8E8E"/>
                </a:solidFill>
                <a:latin typeface="Malgun Gothic"/>
              </a:rPr>
              <a:t>1</a:t>
            </a:r>
            <a:r>
              <a:rPr sz="1800" b="1" i="0" dirty="0">
                <a:solidFill>
                  <a:srgbClr val="0D8E8E"/>
                </a:solidFill>
                <a:latin typeface="Malgun Gothic"/>
              </a:rPr>
              <a:t>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2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67665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6C757D"/>
                </a:solidFill>
                <a:latin typeface="Malgun Gothic"/>
              </a:rPr>
              <a:t>사용 설명서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0439" y="3383280"/>
            <a:ext cx="320312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 dirty="0" err="1">
                <a:solidFill>
                  <a:srgbClr val="6C757D"/>
                </a:solidFill>
                <a:latin typeface="Malgun Gothic"/>
              </a:rPr>
              <a:t>LX글라스</a:t>
            </a:r>
            <a:r>
              <a:rPr sz="1100" b="1" i="0" dirty="0">
                <a:solidFill>
                  <a:srgbClr val="6C757D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6C757D"/>
                </a:solidFill>
                <a:latin typeface="Malgun Gothic"/>
              </a:rPr>
              <a:t>연구기획팀</a:t>
            </a:r>
            <a:r>
              <a:rPr sz="1100" b="1" i="0" dirty="0">
                <a:solidFill>
                  <a:srgbClr val="6C757D"/>
                </a:solidFill>
                <a:latin typeface="Malgun Gothic"/>
              </a:rPr>
              <a:t>  |  박재영  |  2026-06-1</a:t>
            </a:r>
            <a:r>
              <a:rPr lang="en-US" sz="1100" b="1" dirty="0">
                <a:solidFill>
                  <a:srgbClr val="6C757D"/>
                </a:solidFill>
                <a:latin typeface="Malgun Gothic"/>
              </a:rPr>
              <a:t>6</a:t>
            </a:r>
            <a:endParaRPr sz="1100" b="1" i="0" dirty="0">
              <a:solidFill>
                <a:srgbClr val="6C757D"/>
              </a:solidFill>
              <a:latin typeface="Malgun Gothi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223760" y="4434840"/>
            <a:ext cx="1737360" cy="384048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6356" y="4480560"/>
            <a:ext cx="144302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Malgun Gothic"/>
              </a:rPr>
              <a:t>GHS </a:t>
            </a:r>
            <a:r>
              <a:rPr sz="1000" b="1" i="0" dirty="0" err="1">
                <a:solidFill>
                  <a:srgbClr val="FFFFFF"/>
                </a:solidFill>
                <a:latin typeface="Malgun Gothic"/>
              </a:rPr>
              <a:t>경고표지</a:t>
            </a:r>
            <a:r>
              <a:rPr sz="10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Malgun Gothic"/>
              </a:rPr>
              <a:t>자동화</a:t>
            </a:r>
            <a:endParaRPr sz="1000" b="1" i="0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5486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"/>
            <a:ext cx="5486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2B0AA"/>
                </a:solidFill>
                <a:latin typeface="Malgun Gothic"/>
              </a:rPr>
              <a:t>MSDS Label Maker v2.1.0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97763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457200" cy="841248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4" y="1243584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05156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프로그램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1532792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 dirty="0" err="1">
                <a:latin typeface="Malgun Gothic"/>
              </a:rPr>
              <a:t>도구의</a:t>
            </a:r>
            <a:r>
              <a:rPr sz="950" b="1" i="0" dirty="0">
                <a:latin typeface="Malgun Gothic"/>
              </a:rPr>
              <a:t> </a:t>
            </a:r>
            <a:r>
              <a:rPr sz="950" b="1" i="0" dirty="0" err="1">
                <a:latin typeface="Malgun Gothic"/>
              </a:rPr>
              <a:t>목적과</a:t>
            </a:r>
            <a:r>
              <a:rPr sz="950" b="1" i="0" dirty="0">
                <a:latin typeface="Malgun Gothic"/>
              </a:rPr>
              <a:t> </a:t>
            </a:r>
            <a:r>
              <a:rPr sz="950" b="1" i="0" dirty="0" err="1">
                <a:latin typeface="Malgun Gothic"/>
              </a:rPr>
              <a:t>핵심</a:t>
            </a:r>
            <a:r>
              <a:rPr sz="950" b="1" i="0" dirty="0">
                <a:latin typeface="Malgun Gothic"/>
              </a:rPr>
              <a:t> </a:t>
            </a:r>
            <a:r>
              <a:rPr sz="950" b="1" i="0" dirty="0" err="1">
                <a:latin typeface="Malgun Gothic"/>
              </a:rPr>
              <a:t>기능</a:t>
            </a:r>
            <a:endParaRPr sz="950" b="1" i="0" dirty="0">
              <a:latin typeface="Malgun Gothi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54880" y="1005840"/>
            <a:ext cx="397763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0" y="1005840"/>
            <a:ext cx="457200" cy="841248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4024" y="1243584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05156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화면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371600"/>
            <a:ext cx="147508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latin typeface="Malgun Gothic"/>
              </a:rPr>
              <a:t>3패널 UI 레이아웃 안내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11680"/>
            <a:ext cx="397763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011680"/>
            <a:ext cx="457200" cy="841248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" y="2249424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05740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Step 1  PDF 불러오기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377440"/>
            <a:ext cx="1837362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 dirty="0">
                <a:latin typeface="Malgun Gothic"/>
              </a:rPr>
              <a:t>PDF </a:t>
            </a:r>
            <a:r>
              <a:rPr sz="950" b="1" i="0" dirty="0" err="1">
                <a:latin typeface="Malgun Gothic"/>
              </a:rPr>
              <a:t>파일</a:t>
            </a:r>
            <a:r>
              <a:rPr sz="950" b="1" i="0" dirty="0">
                <a:latin typeface="Malgun Gothic"/>
              </a:rPr>
              <a:t> </a:t>
            </a:r>
            <a:r>
              <a:rPr sz="950" b="1" i="0" dirty="0" err="1">
                <a:latin typeface="Malgun Gothic"/>
              </a:rPr>
              <a:t>선택</a:t>
            </a:r>
            <a:r>
              <a:rPr sz="950" b="1" i="0" dirty="0">
                <a:latin typeface="Malgun Gothic"/>
              </a:rPr>
              <a:t> 및 </a:t>
            </a:r>
            <a:r>
              <a:rPr sz="950" b="1" i="0" dirty="0" err="1">
                <a:latin typeface="Malgun Gothic"/>
              </a:rPr>
              <a:t>텍스트</a:t>
            </a:r>
            <a:r>
              <a:rPr sz="950" b="1" i="0" dirty="0">
                <a:latin typeface="Malgun Gothic"/>
              </a:rPr>
              <a:t> </a:t>
            </a:r>
            <a:r>
              <a:rPr sz="950" b="1" i="0" dirty="0" err="1">
                <a:latin typeface="Malgun Gothic"/>
              </a:rPr>
              <a:t>추출</a:t>
            </a:r>
            <a:endParaRPr sz="950" b="1" i="0" dirty="0">
              <a:latin typeface="Malgun Gothic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754880" y="2011680"/>
            <a:ext cx="397763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54880" y="2011680"/>
            <a:ext cx="457200" cy="841248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64024" y="2249424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05740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Step 2  내용 편집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377440"/>
            <a:ext cx="1741182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latin typeface="Malgun Gothic"/>
              </a:rPr>
              <a:t>추출 결과 확인 및 항목 수정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17520"/>
            <a:ext cx="397763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3017520"/>
            <a:ext cx="457200" cy="841248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4904" y="3255264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06324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Step 3  인쇄 출력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83280"/>
            <a:ext cx="2064989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latin typeface="Malgun Gothic"/>
              </a:rPr>
              <a:t>미리보기 확인 및 인쇄 HTML 생성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017520"/>
            <a:ext cx="397763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54880" y="3017520"/>
            <a:ext cx="457200" cy="841248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64024" y="3255264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06324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라벨 규격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383280"/>
            <a:ext cx="1478290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latin typeface="Malgun Gothic"/>
              </a:rPr>
              <a:t>아이라벨 3종 규격 안내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023360"/>
            <a:ext cx="397763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4023360"/>
            <a:ext cx="457200" cy="841248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4261104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06908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GHS 그림문자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389120"/>
            <a:ext cx="1478290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latin typeface="Malgun Gothic"/>
              </a:rPr>
              <a:t>9종 그림문자 선택 방법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4023360"/>
            <a:ext cx="397763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54880" y="4023360"/>
            <a:ext cx="457200" cy="841248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64024" y="4261104"/>
            <a:ext cx="4389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406908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주의사항 &amp; FAQ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389120"/>
            <a:ext cx="1898277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latin typeface="Malgun Gothic"/>
              </a:rPr>
              <a:t>올바른 사용을 위한 체크리스트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858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8229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01  프로그램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2B0AA"/>
                </a:solidFill>
                <a:latin typeface="Malgun Gothic"/>
              </a:rPr>
              <a:t>MSDS PDF → GHS 경고표지 자동 생성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519" y="964416"/>
            <a:ext cx="354937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dirty="0">
                <a:solidFill>
                  <a:srgbClr val="212529"/>
                </a:solidFill>
                <a:latin typeface="Malgun Gothic"/>
              </a:rPr>
              <a:t>MSDS </a:t>
            </a:r>
            <a:r>
              <a:rPr sz="1100" b="1" i="0" dirty="0" err="1">
                <a:solidFill>
                  <a:srgbClr val="212529"/>
                </a:solidFill>
                <a:latin typeface="Malgun Gothic"/>
              </a:rPr>
              <a:t>PDF에서</a:t>
            </a:r>
            <a:r>
              <a:rPr sz="1100" b="1" i="0" dirty="0">
                <a:solidFill>
                  <a:srgbClr val="212529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212529"/>
                </a:solidFill>
                <a:latin typeface="Malgun Gothic"/>
              </a:rPr>
              <a:t>경고표지</a:t>
            </a:r>
            <a:r>
              <a:rPr sz="1100" b="1" i="0" dirty="0">
                <a:solidFill>
                  <a:srgbClr val="212529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212529"/>
                </a:solidFill>
                <a:latin typeface="Malgun Gothic"/>
              </a:rPr>
              <a:t>필수</a:t>
            </a:r>
            <a:r>
              <a:rPr sz="1100" b="1" i="0" dirty="0">
                <a:solidFill>
                  <a:srgbClr val="212529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212529"/>
                </a:solidFill>
                <a:latin typeface="Malgun Gothic"/>
              </a:rPr>
              <a:t>항목을</a:t>
            </a:r>
            <a:r>
              <a:rPr sz="1100" b="1" i="0" dirty="0">
                <a:solidFill>
                  <a:srgbClr val="212529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212529"/>
                </a:solidFill>
                <a:latin typeface="Malgun Gothic"/>
              </a:rPr>
              <a:t>자동</a:t>
            </a:r>
            <a:r>
              <a:rPr sz="1100" b="1" i="0" dirty="0">
                <a:solidFill>
                  <a:srgbClr val="212529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212529"/>
                </a:solidFill>
                <a:latin typeface="Malgun Gothic"/>
              </a:rPr>
              <a:t>추출하여</a:t>
            </a:r>
            <a:r>
              <a:rPr sz="1100" b="1" i="0" dirty="0">
                <a:solidFill>
                  <a:srgbClr val="212529"/>
                </a:solidFill>
                <a:latin typeface="Malgun Gothic"/>
              </a:rPr>
              <a:t>
</a:t>
            </a:r>
            <a:r>
              <a:rPr sz="1100" b="1" i="0" dirty="0" err="1">
                <a:solidFill>
                  <a:srgbClr val="212529"/>
                </a:solidFill>
                <a:latin typeface="Malgun Gothic"/>
              </a:rPr>
              <a:t>인쇄</a:t>
            </a:r>
            <a:r>
              <a:rPr sz="1100" b="1" i="0" dirty="0">
                <a:solidFill>
                  <a:srgbClr val="212529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212529"/>
                </a:solidFill>
                <a:latin typeface="Malgun Gothic"/>
              </a:rPr>
              <a:t>가능한</a:t>
            </a:r>
            <a:r>
              <a:rPr sz="1100" b="1" i="0" dirty="0">
                <a:solidFill>
                  <a:srgbClr val="212529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212529"/>
                </a:solidFill>
                <a:latin typeface="Malgun Gothic"/>
              </a:rPr>
              <a:t>라벨을</a:t>
            </a:r>
            <a:r>
              <a:rPr sz="1100" b="1" i="0" dirty="0">
                <a:solidFill>
                  <a:srgbClr val="212529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212529"/>
                </a:solidFill>
                <a:latin typeface="Malgun Gothic"/>
              </a:rPr>
              <a:t>즉시</a:t>
            </a:r>
            <a:r>
              <a:rPr sz="1100" b="1" i="0" dirty="0">
                <a:solidFill>
                  <a:srgbClr val="212529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212529"/>
                </a:solidFill>
                <a:latin typeface="Malgun Gothic"/>
              </a:rPr>
              <a:t>생성합니다</a:t>
            </a:r>
            <a:r>
              <a:rPr sz="1100" b="1" i="0" dirty="0">
                <a:solidFill>
                  <a:srgbClr val="212529"/>
                </a:solidFill>
                <a:latin typeface="Malgun Gothic"/>
              </a:rPr>
              <a:t>.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C2EAE6F-DFA5-5FDC-D1A1-DC13513BB2C3}"/>
              </a:ext>
            </a:extLst>
          </p:cNvPr>
          <p:cNvGrpSpPr/>
          <p:nvPr/>
        </p:nvGrpSpPr>
        <p:grpSpPr>
          <a:xfrm>
            <a:off x="61757" y="1660824"/>
            <a:ext cx="3549370" cy="2518260"/>
            <a:chOff x="148389" y="1572768"/>
            <a:chExt cx="4057850" cy="2679192"/>
          </a:xfrm>
        </p:grpSpPr>
        <p:sp>
          <p:nvSpPr>
            <p:cNvPr id="7" name="Rectangle 6"/>
            <p:cNvSpPr/>
            <p:nvPr/>
          </p:nvSpPr>
          <p:spPr>
            <a:xfrm>
              <a:off x="320040" y="1572768"/>
              <a:ext cx="1874519" cy="1261872"/>
            </a:xfrm>
            <a:prstGeom prst="rect">
              <a:avLst/>
            </a:prstGeom>
            <a:solidFill>
              <a:srgbClr val="F0F4F8"/>
            </a:solidFill>
            <a:ln w="9525">
              <a:solidFill>
                <a:srgbClr val="CED4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20040" y="1572768"/>
              <a:ext cx="1874519" cy="54864"/>
            </a:xfrm>
            <a:prstGeom prst="rect">
              <a:avLst/>
            </a:prstGeom>
            <a:solidFill>
              <a:srgbClr val="02B0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00932" y="1664208"/>
              <a:ext cx="712735" cy="507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i="0">
                  <a:solidFill>
                    <a:srgbClr val="0D8E8E"/>
                  </a:solidFill>
                  <a:latin typeface="Malgun Gothic"/>
                </a:rPr>
                <a:t>⚡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9509" y="2084832"/>
              <a:ext cx="1015582" cy="3043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1" i="0">
                  <a:solidFill>
                    <a:srgbClr val="1B2B4B"/>
                  </a:solidFill>
                  <a:latin typeface="Malgun Gothic"/>
                </a:rPr>
                <a:t>자동 추출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8389" y="2359152"/>
              <a:ext cx="2226966" cy="422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950" b="1" i="0" dirty="0">
                  <a:latin typeface="Malgun Gothic"/>
                </a:rPr>
                <a:t>PDF </a:t>
              </a:r>
              <a:r>
                <a:rPr sz="950" b="1" i="0" dirty="0" err="1">
                  <a:latin typeface="Malgun Gothic"/>
                </a:rPr>
                <a:t>텍스트에서</a:t>
              </a:r>
              <a:r>
                <a:rPr sz="950" b="1" i="0" dirty="0">
                  <a:latin typeface="Malgun Gothic"/>
                </a:rPr>
                <a:t> </a:t>
              </a:r>
              <a:r>
                <a:rPr sz="950" b="1" i="0" dirty="0" err="1">
                  <a:latin typeface="Malgun Gothic"/>
                </a:rPr>
                <a:t>제품명·신호어</a:t>
              </a:r>
              <a:r>
                <a:rPr sz="950" b="1" i="0" dirty="0">
                  <a:latin typeface="Malgun Gothic"/>
                </a:rPr>
                <a:t>
</a:t>
              </a:r>
              <a:r>
                <a:rPr sz="950" b="1" i="0" dirty="0" err="1">
                  <a:latin typeface="Malgun Gothic"/>
                </a:rPr>
                <a:t>유해문구</a:t>
              </a:r>
              <a:r>
                <a:rPr sz="950" b="1" i="0" dirty="0">
                  <a:latin typeface="Malgun Gothic"/>
                </a:rPr>
                <a:t> </a:t>
              </a:r>
              <a:r>
                <a:rPr sz="950" b="1" i="0" dirty="0" err="1">
                  <a:latin typeface="Malgun Gothic"/>
                </a:rPr>
                <a:t>자동</a:t>
              </a:r>
              <a:r>
                <a:rPr sz="950" b="1" i="0" dirty="0">
                  <a:latin typeface="Malgun Gothic"/>
                </a:rPr>
                <a:t> </a:t>
              </a:r>
              <a:r>
                <a:rPr sz="950" b="1" i="0" dirty="0" err="1">
                  <a:latin typeface="Malgun Gothic"/>
                </a:rPr>
                <a:t>인식</a:t>
              </a:r>
              <a:endParaRPr sz="950" b="1" i="0" dirty="0">
                <a:latin typeface="Malgun Gothic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331720" y="1572768"/>
              <a:ext cx="1874519" cy="1261872"/>
            </a:xfrm>
            <a:prstGeom prst="rect">
              <a:avLst/>
            </a:prstGeom>
            <a:solidFill>
              <a:srgbClr val="F0F4F8"/>
            </a:solidFill>
            <a:ln w="9525">
              <a:solidFill>
                <a:srgbClr val="CED4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331720" y="1572768"/>
              <a:ext cx="1874519" cy="54864"/>
            </a:xfrm>
            <a:prstGeom prst="rect">
              <a:avLst/>
            </a:prstGeom>
            <a:solidFill>
              <a:srgbClr val="02B0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76418" y="1664208"/>
              <a:ext cx="585122" cy="507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i="0">
                  <a:solidFill>
                    <a:srgbClr val="0D8E8E"/>
                  </a:solidFill>
                  <a:latin typeface="Malgun Gothic"/>
                </a:rPr>
                <a:t>✏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61188" y="2084832"/>
              <a:ext cx="1015582" cy="3043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1" i="0">
                  <a:solidFill>
                    <a:srgbClr val="1B2B4B"/>
                  </a:solidFill>
                  <a:latin typeface="Malgun Gothic"/>
                </a:rPr>
                <a:t>수동 편집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07675" y="2359152"/>
              <a:ext cx="1531754" cy="422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950" b="1" i="0" dirty="0" err="1">
                  <a:latin typeface="Malgun Gothic"/>
                </a:rPr>
                <a:t>추출</a:t>
              </a:r>
              <a:r>
                <a:rPr sz="950" b="1" i="0" dirty="0">
                  <a:latin typeface="Malgun Gothic"/>
                </a:rPr>
                <a:t> </a:t>
              </a:r>
              <a:r>
                <a:rPr sz="950" b="1" i="0" dirty="0" err="1">
                  <a:latin typeface="Malgun Gothic"/>
                </a:rPr>
                <a:t>결과</a:t>
              </a:r>
              <a:r>
                <a:rPr sz="950" b="1" i="0" dirty="0">
                  <a:latin typeface="Malgun Gothic"/>
                </a:rPr>
                <a:t> </a:t>
              </a:r>
              <a:r>
                <a:rPr sz="950" b="1" i="0" dirty="0" err="1">
                  <a:latin typeface="Malgun Gothic"/>
                </a:rPr>
                <a:t>직접</a:t>
              </a:r>
              <a:r>
                <a:rPr sz="950" b="1" i="0" dirty="0">
                  <a:latin typeface="Malgun Gothic"/>
                </a:rPr>
                <a:t> </a:t>
              </a:r>
              <a:r>
                <a:rPr sz="950" b="1" i="0" dirty="0" err="1">
                  <a:latin typeface="Malgun Gothic"/>
                </a:rPr>
                <a:t>수정</a:t>
              </a:r>
              <a:r>
                <a:rPr sz="950" b="1" i="0" dirty="0">
                  <a:latin typeface="Malgun Gothic"/>
                </a:rPr>
                <a:t>
</a:t>
              </a:r>
              <a:r>
                <a:rPr sz="950" b="1" i="0" dirty="0" err="1">
                  <a:latin typeface="Malgun Gothic"/>
                </a:rPr>
                <a:t>정확도</a:t>
              </a:r>
              <a:r>
                <a:rPr sz="950" b="1" i="0" dirty="0">
                  <a:latin typeface="Malgun Gothic"/>
                </a:rPr>
                <a:t> </a:t>
              </a:r>
              <a:r>
                <a:rPr sz="950" b="1" i="0" dirty="0" err="1">
                  <a:latin typeface="Malgun Gothic"/>
                </a:rPr>
                <a:t>보완</a:t>
              </a:r>
              <a:r>
                <a:rPr sz="950" b="1" i="0" dirty="0">
                  <a:latin typeface="Malgun Gothic"/>
                </a:rPr>
                <a:t> </a:t>
              </a:r>
              <a:r>
                <a:rPr sz="950" b="1" i="0" dirty="0" err="1">
                  <a:latin typeface="Malgun Gothic"/>
                </a:rPr>
                <a:t>가능</a:t>
              </a:r>
              <a:endParaRPr sz="950" b="1" i="0" dirty="0">
                <a:latin typeface="Malgun Gothic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0040" y="2990088"/>
              <a:ext cx="1874519" cy="1261872"/>
            </a:xfrm>
            <a:prstGeom prst="rect">
              <a:avLst/>
            </a:prstGeom>
            <a:solidFill>
              <a:srgbClr val="F0F4F8"/>
            </a:solidFill>
            <a:ln w="9525">
              <a:solidFill>
                <a:srgbClr val="CED4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20040" y="2990088"/>
              <a:ext cx="1874519" cy="54864"/>
            </a:xfrm>
            <a:prstGeom prst="rect">
              <a:avLst/>
            </a:prstGeom>
            <a:solidFill>
              <a:srgbClr val="02B0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64739" y="3081528"/>
              <a:ext cx="585122" cy="507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i="0">
                  <a:solidFill>
                    <a:srgbClr val="0D8E8E"/>
                  </a:solidFill>
                  <a:latin typeface="Malgun Gothic"/>
                </a:rPr>
                <a:t>🖨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9509" y="3502152"/>
              <a:ext cx="1015582" cy="3043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1" i="0">
                  <a:solidFill>
                    <a:srgbClr val="1B2B4B"/>
                  </a:solidFill>
                  <a:latin typeface="Malgun Gothic"/>
                </a:rPr>
                <a:t>즉시 출력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1708" y="3776472"/>
              <a:ext cx="1480327" cy="422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950" b="1" i="0" dirty="0">
                  <a:latin typeface="Malgun Gothic"/>
                </a:rPr>
                <a:t>HTML </a:t>
              </a:r>
              <a:r>
                <a:rPr sz="950" b="1" i="0" dirty="0" err="1">
                  <a:latin typeface="Malgun Gothic"/>
                </a:rPr>
                <a:t>생성</a:t>
              </a:r>
              <a:r>
                <a:rPr sz="950" b="1" i="0" dirty="0">
                  <a:latin typeface="Malgun Gothic"/>
                </a:rPr>
                <a:t> →
</a:t>
              </a:r>
              <a:r>
                <a:rPr sz="950" b="1" i="0" dirty="0" err="1">
                  <a:latin typeface="Malgun Gothic"/>
                </a:rPr>
                <a:t>브라우저</a:t>
              </a:r>
              <a:r>
                <a:rPr sz="950" b="1" i="0" dirty="0">
                  <a:latin typeface="Malgun Gothic"/>
                </a:rPr>
                <a:t> </a:t>
              </a:r>
              <a:r>
                <a:rPr sz="950" b="1" i="0" dirty="0" err="1">
                  <a:latin typeface="Malgun Gothic"/>
                </a:rPr>
                <a:t>바로</a:t>
              </a:r>
              <a:r>
                <a:rPr sz="950" b="1" i="0" dirty="0">
                  <a:latin typeface="Malgun Gothic"/>
                </a:rPr>
                <a:t> </a:t>
              </a:r>
              <a:r>
                <a:rPr sz="950" b="1" i="0" dirty="0" err="1">
                  <a:latin typeface="Malgun Gothic"/>
                </a:rPr>
                <a:t>인쇄</a:t>
              </a:r>
              <a:endParaRPr sz="950" b="1" i="0" dirty="0">
                <a:latin typeface="Malgun Gothic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331720" y="2990088"/>
              <a:ext cx="1874519" cy="1261872"/>
            </a:xfrm>
            <a:prstGeom prst="rect">
              <a:avLst/>
            </a:prstGeom>
            <a:solidFill>
              <a:srgbClr val="F0F4F8"/>
            </a:solidFill>
            <a:ln w="9525">
              <a:solidFill>
                <a:srgbClr val="CED4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331720" y="2990088"/>
              <a:ext cx="1874519" cy="54864"/>
            </a:xfrm>
            <a:prstGeom prst="rect">
              <a:avLst/>
            </a:prstGeom>
            <a:solidFill>
              <a:srgbClr val="02B0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912612" y="3081528"/>
              <a:ext cx="712735" cy="507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i="0">
                  <a:solidFill>
                    <a:srgbClr val="0D8E8E"/>
                  </a:solidFill>
                  <a:latin typeface="Malgun Gothic"/>
                </a:rPr>
                <a:t>📐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761188" y="3502152"/>
              <a:ext cx="1015582" cy="3043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1" i="0">
                  <a:solidFill>
                    <a:srgbClr val="1B2B4B"/>
                  </a:solidFill>
                  <a:latin typeface="Malgun Gothic"/>
                </a:rPr>
                <a:t>규격 선택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533387" y="3776472"/>
              <a:ext cx="1480327" cy="422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950" b="1" i="0" dirty="0" err="1">
                  <a:latin typeface="Malgun Gothic"/>
                </a:rPr>
                <a:t>아이라벨</a:t>
              </a:r>
              <a:r>
                <a:rPr sz="950" b="1" i="0" dirty="0">
                  <a:latin typeface="Malgun Gothic"/>
                </a:rPr>
                <a:t> 3종 </a:t>
              </a:r>
              <a:r>
                <a:rPr sz="950" b="1" i="0" dirty="0" err="1">
                  <a:latin typeface="Malgun Gothic"/>
                </a:rPr>
                <a:t>규격</a:t>
              </a:r>
              <a:r>
                <a:rPr sz="950" b="1" i="0" dirty="0">
                  <a:latin typeface="Malgun Gothic"/>
                </a:rPr>
                <a:t>
</a:t>
              </a:r>
              <a:r>
                <a:rPr sz="950" b="1" i="0" dirty="0" err="1">
                  <a:latin typeface="Malgun Gothic"/>
                </a:rPr>
                <a:t>자동</a:t>
              </a:r>
              <a:r>
                <a:rPr sz="950" b="1" i="0" dirty="0">
                  <a:latin typeface="Malgun Gothic"/>
                </a:rPr>
                <a:t> </a:t>
              </a:r>
              <a:r>
                <a:rPr sz="950" b="1" i="0" dirty="0" err="1">
                  <a:latin typeface="Malgun Gothic"/>
                </a:rPr>
                <a:t>레이아웃</a:t>
              </a:r>
              <a:r>
                <a:rPr sz="950" b="1" i="0" dirty="0">
                  <a:latin typeface="Malgun Gothic"/>
                </a:rPr>
                <a:t> </a:t>
              </a:r>
              <a:r>
                <a:rPr sz="950" b="1" i="0" dirty="0" err="1">
                  <a:latin typeface="Malgun Gothic"/>
                </a:rPr>
                <a:t>적용</a:t>
              </a:r>
              <a:endParaRPr sz="950" b="1" i="0" dirty="0">
                <a:latin typeface="Malgun Gothic"/>
              </a:endParaRPr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D078080D-5FAD-50BA-D13C-0D6442C74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394" y="215591"/>
            <a:ext cx="5044087" cy="45645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8229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02  화면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1621"/>
            <a:ext cx="34740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 dirty="0">
                <a:solidFill>
                  <a:srgbClr val="02B0AA"/>
                </a:solidFill>
                <a:latin typeface="Malgun Gothic"/>
              </a:rPr>
              <a:t>3개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패널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레이아웃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</a:t>
            </a:r>
            <a:r>
              <a:rPr sz="1400" b="0" i="0" dirty="0">
                <a:solidFill>
                  <a:srgbClr val="02B0AA"/>
                </a:solidFill>
                <a:latin typeface="Malgun Gothic"/>
              </a:rPr>
              <a:t>— </a:t>
            </a:r>
            <a:r>
              <a:rPr sz="1400" b="1" i="0" dirty="0">
                <a:solidFill>
                  <a:srgbClr val="02B0AA"/>
                </a:solidFill>
                <a:latin typeface="Malgun Gothic"/>
              </a:rPr>
              <a:t>PDF </a:t>
            </a:r>
            <a:r>
              <a:rPr sz="1400" b="1" i="0" dirty="0" err="1">
                <a:solidFill>
                  <a:srgbClr val="02B0AA"/>
                </a:solidFill>
                <a:latin typeface="Malgun Gothic"/>
              </a:rPr>
              <a:t>뷰어</a:t>
            </a:r>
            <a:r>
              <a:rPr sz="1400" b="1" i="0" dirty="0">
                <a:solidFill>
                  <a:srgbClr val="02B0AA"/>
                </a:solidFill>
                <a:latin typeface="Malgun Gothic"/>
              </a:rPr>
              <a:t> 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/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편집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/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미리보기</a:t>
            </a:r>
            <a:endParaRPr sz="1050" b="0" i="0" dirty="0">
              <a:solidFill>
                <a:srgbClr val="02B0AA"/>
              </a:solidFill>
              <a:latin typeface="Malgun Gothic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872DD3A-2D0E-A0A4-B743-877513B2C820}"/>
              </a:ext>
            </a:extLst>
          </p:cNvPr>
          <p:cNvGrpSpPr/>
          <p:nvPr/>
        </p:nvGrpSpPr>
        <p:grpSpPr>
          <a:xfrm>
            <a:off x="166823" y="950976"/>
            <a:ext cx="2697480" cy="1280160"/>
            <a:chOff x="320040" y="3611880"/>
            <a:chExt cx="2697480" cy="1280160"/>
          </a:xfrm>
        </p:grpSpPr>
        <p:sp>
          <p:nvSpPr>
            <p:cNvPr id="9" name="Rectangle 8"/>
            <p:cNvSpPr/>
            <p:nvPr/>
          </p:nvSpPr>
          <p:spPr>
            <a:xfrm>
              <a:off x="320040" y="3611880"/>
              <a:ext cx="2697480" cy="1280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ED4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0040" y="3611880"/>
              <a:ext cx="2697480" cy="329184"/>
            </a:xfrm>
            <a:prstGeom prst="rect">
              <a:avLst/>
            </a:prstGeom>
            <a:solidFill>
              <a:srgbClr val="1B2B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9768" y="3675887"/>
              <a:ext cx="2532888" cy="2194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1" i="0">
                  <a:solidFill>
                    <a:srgbClr val="FFFFFF"/>
                  </a:solidFill>
                  <a:latin typeface="Malgun Gothic"/>
                </a:rPr>
                <a:t>📄  PDF 뷰어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7200" y="4023360"/>
              <a:ext cx="2496312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00" b="0" i="0">
                  <a:solidFill>
                    <a:srgbClr val="212529"/>
                  </a:solidFill>
                  <a:latin typeface="Malgun Gothic"/>
                </a:rPr>
                <a:t>▸  PDF 파일 불러오기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7200" y="4315968"/>
              <a:ext cx="2496312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00" b="0" i="0">
                  <a:solidFill>
                    <a:srgbClr val="212529"/>
                  </a:solidFill>
                  <a:latin typeface="Malgun Gothic"/>
                </a:rPr>
                <a:t>▸  페이지 이동 (◀ ▶)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7200" y="4608576"/>
              <a:ext cx="2496312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00" b="0" i="0">
                  <a:solidFill>
                    <a:srgbClr val="212529"/>
                  </a:solidFill>
                  <a:latin typeface="Malgun Gothic"/>
                </a:rPr>
                <a:t>▸  원문 텍스트 보기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01DFF12-096E-BBA1-74F9-FD911D19BC6E}"/>
              </a:ext>
            </a:extLst>
          </p:cNvPr>
          <p:cNvGrpSpPr/>
          <p:nvPr/>
        </p:nvGrpSpPr>
        <p:grpSpPr>
          <a:xfrm>
            <a:off x="166823" y="2255352"/>
            <a:ext cx="3736104" cy="2760131"/>
            <a:chOff x="320040" y="3611880"/>
            <a:chExt cx="2697480" cy="1280160"/>
          </a:xfrm>
        </p:grpSpPr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A7DBBCD3-A61A-4C3A-9B96-5B6DB5CDAB71}"/>
                </a:ext>
              </a:extLst>
            </p:cNvPr>
            <p:cNvSpPr/>
            <p:nvPr/>
          </p:nvSpPr>
          <p:spPr>
            <a:xfrm>
              <a:off x="320040" y="3611880"/>
              <a:ext cx="2697480" cy="1280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ED4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AA2DF18-03F6-312A-2F14-3E2C0340E1D8}"/>
                </a:ext>
              </a:extLst>
            </p:cNvPr>
            <p:cNvSpPr txBox="1"/>
            <p:nvPr/>
          </p:nvSpPr>
          <p:spPr>
            <a:xfrm>
              <a:off x="457200" y="3632342"/>
              <a:ext cx="2199147" cy="3017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ko-KR" altLang="en-US" sz="1000" b="1" dirty="0"/>
                <a:t>① </a:t>
              </a:r>
              <a:r>
                <a:rPr lang="en-US" altLang="ko-KR" sz="1000" b="1" dirty="0"/>
                <a:t>PDF </a:t>
              </a:r>
              <a:r>
                <a:rPr lang="ko-KR" altLang="en-US" sz="1000" b="1" dirty="0"/>
                <a:t>선택 버튼</a:t>
              </a:r>
              <a:endParaRPr lang="en-US" altLang="ko-KR" sz="1000" b="1" dirty="0"/>
            </a:p>
            <a:p>
              <a:r>
                <a:rPr lang="ko-KR" altLang="en-US" sz="1000" dirty="0"/>
                <a:t> </a:t>
              </a:r>
              <a:r>
                <a:rPr lang="en-US" altLang="ko-KR" sz="1000" dirty="0"/>
                <a:t>— </a:t>
              </a:r>
              <a:r>
                <a:rPr lang="ko-KR" altLang="en-US" sz="1000" dirty="0"/>
                <a:t>원하는 </a:t>
              </a:r>
              <a:r>
                <a:rPr lang="en-US" altLang="ko-KR" sz="1000" dirty="0"/>
                <a:t>MSDS PDF </a:t>
              </a:r>
              <a:r>
                <a:rPr lang="ko-KR" altLang="en-US" sz="1000" dirty="0"/>
                <a:t>파일을 불러오는 버튼으로</a:t>
              </a:r>
              <a:endParaRPr lang="en-US" altLang="ko-KR" sz="1000" dirty="0"/>
            </a:p>
            <a:p>
              <a:r>
                <a:rPr lang="en-US" altLang="ko-KR" sz="1000" dirty="0"/>
                <a:t> </a:t>
              </a:r>
              <a:r>
                <a:rPr lang="ko-KR" altLang="en-US" sz="1000" dirty="0"/>
                <a:t>파일명이 상단에 표시됩니다</a:t>
              </a:r>
              <a:r>
                <a:rPr lang="en-US" altLang="ko-KR" sz="1000" dirty="0"/>
                <a:t>.</a:t>
              </a:r>
              <a:endParaRPr sz="1000" b="0" i="0" dirty="0">
                <a:solidFill>
                  <a:srgbClr val="212529"/>
                </a:solidFill>
                <a:latin typeface="Malgun Gothic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82763ED-831A-D132-5F65-45881F2F821C}"/>
              </a:ext>
            </a:extLst>
          </p:cNvPr>
          <p:cNvSpPr txBox="1"/>
          <p:nvPr/>
        </p:nvSpPr>
        <p:spPr>
          <a:xfrm>
            <a:off x="341905" y="2974176"/>
            <a:ext cx="296106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000" b="1" dirty="0"/>
              <a:t>② 페이지 탐색 컨트롤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r>
              <a:rPr lang="en-US" altLang="ko-KR" sz="1000" dirty="0"/>
              <a:t>— </a:t>
            </a:r>
            <a:r>
              <a:rPr lang="ko-KR" altLang="en-US" sz="1000" dirty="0"/>
              <a:t>이전</a:t>
            </a:r>
            <a:r>
              <a:rPr lang="en-US" altLang="ko-KR" sz="1000" dirty="0"/>
              <a:t>/</a:t>
            </a:r>
            <a:r>
              <a:rPr lang="ko-KR" altLang="en-US" sz="1000" dirty="0"/>
              <a:t>다음 버튼과 현재 페이지</a:t>
            </a:r>
            <a:r>
              <a:rPr lang="en-US" altLang="ko-KR" sz="1000" dirty="0"/>
              <a:t>(</a:t>
            </a:r>
            <a:r>
              <a:rPr lang="ko-KR" altLang="en-US" sz="1000" dirty="0"/>
              <a:t>예</a:t>
            </a:r>
            <a:r>
              <a:rPr lang="en-US" altLang="ko-KR" sz="1000" dirty="0"/>
              <a:t>: 1/12) </a:t>
            </a:r>
            <a:r>
              <a:rPr lang="ko-KR" altLang="en-US" sz="1000" dirty="0"/>
              <a:t>표시로 </a:t>
            </a:r>
            <a:endParaRPr lang="en-US" altLang="ko-KR" sz="1000" dirty="0"/>
          </a:p>
          <a:p>
            <a:r>
              <a:rPr lang="ko-KR" altLang="en-US" sz="1000" dirty="0"/>
              <a:t>다중 페이지 </a:t>
            </a:r>
            <a:r>
              <a:rPr lang="en-US" altLang="ko-KR" sz="1000" dirty="0"/>
              <a:t>PDF</a:t>
            </a:r>
            <a:r>
              <a:rPr lang="ko-KR" altLang="en-US" sz="1000" dirty="0"/>
              <a:t>를 순차 탐색할 수 있습니다</a:t>
            </a:r>
            <a:r>
              <a:rPr lang="en-US" altLang="ko-KR" sz="1000" dirty="0"/>
              <a:t>.</a:t>
            </a:r>
            <a:endParaRPr sz="1000" b="0" i="0" dirty="0">
              <a:solidFill>
                <a:srgbClr val="212529"/>
              </a:solidFill>
              <a:latin typeface="Malgun Gothic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4B7E1E-617B-9D2F-6AD9-005CE23E9498}"/>
              </a:ext>
            </a:extLst>
          </p:cNvPr>
          <p:cNvSpPr txBox="1"/>
          <p:nvPr/>
        </p:nvSpPr>
        <p:spPr>
          <a:xfrm>
            <a:off x="365760" y="3574519"/>
            <a:ext cx="213391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000" b="1" dirty="0"/>
              <a:t>③ 배율 조절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r>
              <a:rPr lang="en-US" altLang="ko-KR" sz="1000" dirty="0"/>
              <a:t>— </a:t>
            </a:r>
            <a:r>
              <a:rPr lang="ko-KR" altLang="en-US" sz="1000" dirty="0"/>
              <a:t>확대</a:t>
            </a:r>
            <a:r>
              <a:rPr lang="en-US" altLang="ko-KR" sz="1000" dirty="0"/>
              <a:t>/</a:t>
            </a:r>
            <a:r>
              <a:rPr lang="ko-KR" altLang="en-US" sz="1000" dirty="0"/>
              <a:t>축소</a:t>
            </a:r>
            <a:r>
              <a:rPr lang="en-US" altLang="ko-KR" sz="1000" dirty="0"/>
              <a:t>(+/-) </a:t>
            </a:r>
            <a:r>
              <a:rPr lang="ko-KR" altLang="en-US" sz="1000" dirty="0"/>
              <a:t>및 회전 버튼으로 </a:t>
            </a:r>
            <a:endParaRPr lang="en-US" altLang="ko-KR" sz="1000" dirty="0"/>
          </a:p>
          <a:p>
            <a:r>
              <a:rPr lang="ko-KR" altLang="en-US" sz="1000" dirty="0"/>
              <a:t>열람 편의성을 높였습니다</a:t>
            </a:r>
            <a:r>
              <a:rPr lang="en-US" altLang="ko-KR" sz="1000" dirty="0"/>
              <a:t>.</a:t>
            </a:r>
            <a:endParaRPr sz="1000" b="0" i="0" dirty="0">
              <a:solidFill>
                <a:srgbClr val="212529"/>
              </a:solidFill>
              <a:latin typeface="Malgun Gothic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111C67-F9A8-0346-4DDD-53A8E46E3150}"/>
              </a:ext>
            </a:extLst>
          </p:cNvPr>
          <p:cNvSpPr txBox="1"/>
          <p:nvPr/>
        </p:nvSpPr>
        <p:spPr>
          <a:xfrm>
            <a:off x="365760" y="4188009"/>
            <a:ext cx="345318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000" b="1" dirty="0"/>
              <a:t>④ 본문 </a:t>
            </a:r>
            <a:r>
              <a:rPr lang="en-US" altLang="ko-KR" sz="1000" b="1" dirty="0"/>
              <a:t>PDF </a:t>
            </a:r>
            <a:r>
              <a:rPr lang="ko-KR" altLang="en-US" sz="1000" b="1" dirty="0"/>
              <a:t>렌더링 영역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r>
              <a:rPr lang="en-US" altLang="ko-KR" sz="1000" dirty="0"/>
              <a:t>— </a:t>
            </a:r>
            <a:r>
              <a:rPr lang="ko-KR" altLang="en-US" sz="1000" dirty="0"/>
              <a:t>실제 </a:t>
            </a:r>
            <a:r>
              <a:rPr lang="en-US" altLang="ko-KR" sz="1000" dirty="0"/>
              <a:t>MSDS </a:t>
            </a:r>
            <a:r>
              <a:rPr lang="ko-KR" altLang="en-US" sz="1000" dirty="0"/>
              <a:t>문서</a:t>
            </a:r>
            <a:r>
              <a:rPr lang="en-US" altLang="ko-KR" sz="1000" dirty="0"/>
              <a:t>(</a:t>
            </a:r>
            <a:r>
              <a:rPr lang="ko-KR" altLang="en-US" sz="1000" dirty="0"/>
              <a:t>물질안전보건자료</a:t>
            </a:r>
            <a:r>
              <a:rPr lang="en-US" altLang="ko-KR" sz="1000" dirty="0"/>
              <a:t>)</a:t>
            </a:r>
            <a:r>
              <a:rPr lang="ko-KR" altLang="en-US" sz="1000" dirty="0"/>
              <a:t>가 그대로 표시되며</a:t>
            </a:r>
            <a:r>
              <a:rPr lang="en-US" altLang="ko-KR" sz="1000" dirty="0"/>
              <a:t>, </a:t>
            </a:r>
          </a:p>
          <a:p>
            <a:r>
              <a:rPr lang="en-US" altLang="ko-KR" sz="1000" dirty="0"/>
              <a:t>GHS </a:t>
            </a:r>
            <a:r>
              <a:rPr lang="ko-KR" altLang="en-US" sz="1000" dirty="0"/>
              <a:t>경고 </a:t>
            </a:r>
            <a:r>
              <a:rPr lang="ko-KR" altLang="en-US" sz="1000" dirty="0" err="1"/>
              <a:t>픽토그램</a:t>
            </a:r>
            <a:r>
              <a:rPr lang="en-US" altLang="ko-KR" sz="1000" dirty="0"/>
              <a:t>, H</a:t>
            </a:r>
            <a:r>
              <a:rPr lang="ko-KR" altLang="en-US" sz="1000" dirty="0"/>
              <a:t>코드</a:t>
            </a:r>
            <a:r>
              <a:rPr lang="en-US" altLang="ko-KR" sz="1000" dirty="0"/>
              <a:t>/P</a:t>
            </a:r>
            <a:r>
              <a:rPr lang="ko-KR" altLang="en-US" sz="1000" dirty="0"/>
              <a:t>코드</a:t>
            </a:r>
            <a:r>
              <a:rPr lang="en-US" altLang="ko-KR" sz="1000" dirty="0"/>
              <a:t>, </a:t>
            </a:r>
            <a:r>
              <a:rPr lang="ko-KR" altLang="en-US" sz="1000" dirty="0"/>
              <a:t>공급자 정보 등 원문을 </a:t>
            </a:r>
            <a:endParaRPr lang="en-US" altLang="ko-KR" sz="1000" dirty="0"/>
          </a:p>
          <a:p>
            <a:r>
              <a:rPr lang="ko-KR" altLang="en-US" sz="1000" dirty="0"/>
              <a:t>그대로 확인할 수 있습니다</a:t>
            </a:r>
            <a:r>
              <a:rPr lang="en-US" altLang="ko-KR" sz="1000" dirty="0"/>
              <a:t>.</a:t>
            </a:r>
            <a:endParaRPr sz="1000" b="0" i="0" dirty="0">
              <a:solidFill>
                <a:srgbClr val="212529"/>
              </a:solidFill>
              <a:latin typeface="Malgun Gothic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9EE5CAC5-4846-F2A6-3BCC-DEDD572CE4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10" b="11383"/>
          <a:stretch>
            <a:fillRect/>
          </a:stretch>
        </p:blipFill>
        <p:spPr>
          <a:xfrm>
            <a:off x="4480560" y="128016"/>
            <a:ext cx="4120301" cy="4909061"/>
          </a:xfrm>
          <a:prstGeom prst="rect">
            <a:avLst/>
          </a:prstGeom>
        </p:spPr>
      </p:pic>
      <p:sp>
        <p:nvSpPr>
          <p:cNvPr id="46" name="타원 45">
            <a:extLst>
              <a:ext uri="{FF2B5EF4-FFF2-40B4-BE49-F238E27FC236}">
                <a16:creationId xmlns:a16="http://schemas.microsoft.com/office/drawing/2014/main" id="{A59D2BCB-33D3-1ED3-C852-506A460266A5}"/>
              </a:ext>
            </a:extLst>
          </p:cNvPr>
          <p:cNvSpPr/>
          <p:nvPr/>
        </p:nvSpPr>
        <p:spPr>
          <a:xfrm>
            <a:off x="4324440" y="411480"/>
            <a:ext cx="244349" cy="19789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0EF5ECE6-A451-4AB9-621E-14807D2A09CD}"/>
              </a:ext>
            </a:extLst>
          </p:cNvPr>
          <p:cNvSpPr/>
          <p:nvPr/>
        </p:nvSpPr>
        <p:spPr>
          <a:xfrm>
            <a:off x="4280326" y="702419"/>
            <a:ext cx="244349" cy="19789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2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59E43C7-4886-9D9F-FD0D-DCEB3C1BF9AA}"/>
              </a:ext>
            </a:extLst>
          </p:cNvPr>
          <p:cNvSpPr/>
          <p:nvPr/>
        </p:nvSpPr>
        <p:spPr>
          <a:xfrm>
            <a:off x="7504208" y="467978"/>
            <a:ext cx="244349" cy="19789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3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B7D27890-FADA-918E-010C-B393237637FB}"/>
              </a:ext>
            </a:extLst>
          </p:cNvPr>
          <p:cNvSpPr/>
          <p:nvPr/>
        </p:nvSpPr>
        <p:spPr>
          <a:xfrm>
            <a:off x="4288755" y="1164557"/>
            <a:ext cx="244349" cy="19789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4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6D6C7-2524-A8AD-5156-2F658DA85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1893A5-2B24-7114-169A-47392D531D9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7E5A0-1103-5418-33DD-1B753FC1AAA0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2AE4B-C54C-B902-D099-6F46D1E3B442}"/>
              </a:ext>
            </a:extLst>
          </p:cNvPr>
          <p:cNvSpPr txBox="1"/>
          <p:nvPr/>
        </p:nvSpPr>
        <p:spPr>
          <a:xfrm>
            <a:off x="365760" y="128016"/>
            <a:ext cx="8229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02  화면 구성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A60F3D-D58F-3CEC-626E-73FE07E50ABC}"/>
              </a:ext>
            </a:extLst>
          </p:cNvPr>
          <p:cNvSpPr txBox="1"/>
          <p:nvPr/>
        </p:nvSpPr>
        <p:spPr>
          <a:xfrm>
            <a:off x="365760" y="533471"/>
            <a:ext cx="32848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 dirty="0">
                <a:solidFill>
                  <a:srgbClr val="02B0AA"/>
                </a:solidFill>
                <a:latin typeface="Malgun Gothic"/>
              </a:rPr>
              <a:t>3개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패널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레이아웃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— PDF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뷰어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/ </a:t>
            </a:r>
            <a:r>
              <a:rPr sz="1400" b="1" i="0" dirty="0" err="1">
                <a:solidFill>
                  <a:srgbClr val="02B0AA"/>
                </a:solidFill>
                <a:latin typeface="Malgun Gothic"/>
              </a:rPr>
              <a:t>편집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/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미리보기</a:t>
            </a:r>
            <a:endParaRPr sz="1050" b="0" i="0" dirty="0">
              <a:solidFill>
                <a:srgbClr val="02B0AA"/>
              </a:solidFill>
              <a:latin typeface="Malgun Gothic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27393CD-85C9-D7FA-AEDB-F33074BAF3C9}"/>
              </a:ext>
            </a:extLst>
          </p:cNvPr>
          <p:cNvGrpSpPr/>
          <p:nvPr/>
        </p:nvGrpSpPr>
        <p:grpSpPr>
          <a:xfrm>
            <a:off x="166823" y="950976"/>
            <a:ext cx="2697480" cy="1280160"/>
            <a:chOff x="3154680" y="3611880"/>
            <a:chExt cx="2697480" cy="12801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712504-B745-99B7-10C3-FD44BEE4AC6D}"/>
                </a:ext>
              </a:extLst>
            </p:cNvPr>
            <p:cNvSpPr/>
            <p:nvPr/>
          </p:nvSpPr>
          <p:spPr>
            <a:xfrm>
              <a:off x="3154680" y="3611880"/>
              <a:ext cx="2697480" cy="1280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ED4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A9754A0-2D86-3451-6205-09EBB064C7C1}"/>
                </a:ext>
              </a:extLst>
            </p:cNvPr>
            <p:cNvSpPr/>
            <p:nvPr/>
          </p:nvSpPr>
          <p:spPr>
            <a:xfrm>
              <a:off x="3154680" y="3611880"/>
              <a:ext cx="2697480" cy="329184"/>
            </a:xfrm>
            <a:prstGeom prst="rect">
              <a:avLst/>
            </a:prstGeom>
            <a:solidFill>
              <a:srgbClr val="145A7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D3269F-BDDE-99E6-CEA0-8A5B99A851B8}"/>
                </a:ext>
              </a:extLst>
            </p:cNvPr>
            <p:cNvSpPr txBox="1"/>
            <p:nvPr/>
          </p:nvSpPr>
          <p:spPr>
            <a:xfrm>
              <a:off x="3264408" y="3675887"/>
              <a:ext cx="2532888" cy="2194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1" i="0">
                  <a:solidFill>
                    <a:srgbClr val="FFFFFF"/>
                  </a:solidFill>
                  <a:latin typeface="Malgun Gothic"/>
                </a:rPr>
                <a:t>📋  추출 결과 편집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7B87C5-F912-D107-BE47-2FEDE8EF7FAB}"/>
                </a:ext>
              </a:extLst>
            </p:cNvPr>
            <p:cNvSpPr txBox="1"/>
            <p:nvPr/>
          </p:nvSpPr>
          <p:spPr>
            <a:xfrm>
              <a:off x="3291840" y="4023360"/>
              <a:ext cx="2496312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00" b="0" i="0">
                  <a:solidFill>
                    <a:srgbClr val="212529"/>
                  </a:solidFill>
                  <a:latin typeface="Malgun Gothic"/>
                </a:rPr>
                <a:t>▸  제품명·신호어·H·P코드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D700FB4-DE23-8774-1250-AC2D5C18F665}"/>
                </a:ext>
              </a:extLst>
            </p:cNvPr>
            <p:cNvSpPr txBox="1"/>
            <p:nvPr/>
          </p:nvSpPr>
          <p:spPr>
            <a:xfrm>
              <a:off x="3291840" y="4315968"/>
              <a:ext cx="2496312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00" b="0" i="0">
                  <a:solidFill>
                    <a:srgbClr val="212529"/>
                  </a:solidFill>
                  <a:latin typeface="Malgun Gothic"/>
                </a:rPr>
                <a:t>▸  GHS 그림문자 선택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669DD7-33B2-959B-BDF1-9BE893DFCB33}"/>
                </a:ext>
              </a:extLst>
            </p:cNvPr>
            <p:cNvSpPr txBox="1"/>
            <p:nvPr/>
          </p:nvSpPr>
          <p:spPr>
            <a:xfrm>
              <a:off x="3291840" y="4608576"/>
              <a:ext cx="2496312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00" b="0" i="0">
                  <a:solidFill>
                    <a:srgbClr val="212529"/>
                  </a:solidFill>
                  <a:latin typeface="Malgun Gothic"/>
                </a:rPr>
                <a:t>▸  글자 크기 조절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5B2A9F4-8AE8-2362-514D-8EE1FCD24C84}"/>
              </a:ext>
            </a:extLst>
          </p:cNvPr>
          <p:cNvGrpSpPr/>
          <p:nvPr/>
        </p:nvGrpSpPr>
        <p:grpSpPr>
          <a:xfrm>
            <a:off x="166823" y="2255352"/>
            <a:ext cx="3736104" cy="2760131"/>
            <a:chOff x="320040" y="3611880"/>
            <a:chExt cx="2697480" cy="1280160"/>
          </a:xfrm>
        </p:grpSpPr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AD8DC2A5-682A-655D-6DB9-A33C73569937}"/>
                </a:ext>
              </a:extLst>
            </p:cNvPr>
            <p:cNvSpPr/>
            <p:nvPr/>
          </p:nvSpPr>
          <p:spPr>
            <a:xfrm>
              <a:off x="320040" y="3611880"/>
              <a:ext cx="2697480" cy="1280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ED4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F2AE1A3-D24A-C115-C2E1-7CB31692B571}"/>
                </a:ext>
              </a:extLst>
            </p:cNvPr>
            <p:cNvSpPr txBox="1"/>
            <p:nvPr/>
          </p:nvSpPr>
          <p:spPr>
            <a:xfrm>
              <a:off x="400467" y="3635214"/>
              <a:ext cx="2617053" cy="2569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ko-KR" altLang="en-US" sz="1000" b="1" dirty="0"/>
                <a:t>① 라벨 규격 선택</a:t>
              </a:r>
              <a:br>
                <a:rPr lang="ko-KR" altLang="en-US" sz="1000" dirty="0"/>
              </a:br>
              <a:r>
                <a:rPr lang="en-US" altLang="ko-KR" sz="1000" dirty="0"/>
                <a:t>— </a:t>
              </a:r>
              <a:r>
                <a:rPr lang="ko-KR" altLang="en-US" sz="1000" dirty="0" err="1"/>
                <a:t>드롭다운으로</a:t>
              </a:r>
              <a:r>
                <a:rPr lang="ko-KR" altLang="en-US" sz="1000" dirty="0"/>
                <a:t> 프린터 용지 규격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예</a:t>
              </a:r>
              <a:r>
                <a:rPr lang="en-US" altLang="ko-KR" sz="1000" dirty="0"/>
                <a:t>: </a:t>
              </a:r>
              <a:r>
                <a:rPr lang="ko-KR" altLang="en-US" sz="1000" dirty="0"/>
                <a:t>아이라벨 </a:t>
              </a:r>
              <a:r>
                <a:rPr lang="en-US" altLang="ko-KR" sz="1000" dirty="0"/>
                <a:t>CL233MP 9</a:t>
              </a:r>
              <a:r>
                <a:rPr lang="ko-KR" altLang="en-US" sz="1000" dirty="0"/>
                <a:t>칸</a:t>
              </a:r>
              <a:r>
                <a:rPr lang="en-US" altLang="ko-KR" sz="1000" dirty="0"/>
                <a:t>)</a:t>
              </a:r>
            </a:p>
            <a:p>
              <a:r>
                <a:rPr lang="ko-KR" altLang="en-US" sz="1000" dirty="0"/>
                <a:t>을 선택하면 해당 템플릿에 맞게 레이아웃이 자동 적용됩니다</a:t>
              </a:r>
              <a:r>
                <a:rPr lang="en-US" altLang="ko-KR" sz="1000" dirty="0"/>
                <a:t>.</a:t>
              </a:r>
              <a:endParaRPr sz="1000" b="0" i="0" dirty="0">
                <a:solidFill>
                  <a:srgbClr val="212529"/>
                </a:solidFill>
                <a:latin typeface="Malgun Gothic"/>
              </a:endParaRPr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34185249-B254-0C6F-16F1-4B4C67F9B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687" y="121258"/>
            <a:ext cx="3973151" cy="4894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8F647B-BA92-6588-40C2-3EF31385D264}"/>
              </a:ext>
            </a:extLst>
          </p:cNvPr>
          <p:cNvSpPr txBox="1"/>
          <p:nvPr/>
        </p:nvSpPr>
        <p:spPr>
          <a:xfrm>
            <a:off x="290455" y="2959184"/>
            <a:ext cx="365196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000" b="1" dirty="0"/>
              <a:t>② 추출 텍스트 편집 영역</a:t>
            </a:r>
            <a:br>
              <a:rPr lang="ko-KR" altLang="en-US" sz="1000" dirty="0"/>
            </a:br>
            <a:r>
              <a:rPr lang="en-US" altLang="ko-KR" sz="1000" dirty="0"/>
              <a:t>— PDF</a:t>
            </a:r>
            <a:r>
              <a:rPr lang="ko-KR" altLang="en-US" sz="1000" dirty="0"/>
              <a:t>에서 자동 </a:t>
            </a:r>
            <a:r>
              <a:rPr lang="ko-KR" altLang="en-US" sz="1000" dirty="0" err="1"/>
              <a:t>파싱된</a:t>
            </a:r>
            <a:r>
              <a:rPr lang="ko-KR" altLang="en-US" sz="1000" dirty="0"/>
              <a:t> 제품명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신호어</a:t>
            </a:r>
            <a:r>
              <a:rPr lang="en-US" altLang="ko-KR" sz="1000" dirty="0"/>
              <a:t>, </a:t>
            </a:r>
            <a:r>
              <a:rPr lang="ko-KR" altLang="en-US" sz="1000" dirty="0"/>
              <a:t>유해위험문구</a:t>
            </a:r>
            <a:r>
              <a:rPr lang="en-US" altLang="ko-KR" sz="1000" dirty="0"/>
              <a:t>(H</a:t>
            </a:r>
            <a:r>
              <a:rPr lang="ko-KR" altLang="en-US" sz="1000" dirty="0"/>
              <a:t>코드</a:t>
            </a:r>
            <a:r>
              <a:rPr lang="en-US" altLang="ko-KR" sz="1000" dirty="0"/>
              <a:t>), </a:t>
            </a:r>
          </a:p>
          <a:p>
            <a:r>
              <a:rPr lang="ko-KR" altLang="en-US" sz="1000" dirty="0"/>
              <a:t>예방조치문구</a:t>
            </a:r>
            <a:r>
              <a:rPr lang="en-US" altLang="ko-KR" sz="1000" dirty="0"/>
              <a:t>(P</a:t>
            </a:r>
            <a:r>
              <a:rPr lang="ko-KR" altLang="en-US" sz="1000" dirty="0"/>
              <a:t>코드</a:t>
            </a:r>
            <a:r>
              <a:rPr lang="en-US" altLang="ko-KR" sz="1000" dirty="0"/>
              <a:t>), </a:t>
            </a:r>
            <a:r>
              <a:rPr lang="ko-KR" altLang="en-US" sz="1000" dirty="0"/>
              <a:t>공급자 정보가 항목별로 표시되며 </a:t>
            </a:r>
            <a:endParaRPr lang="en-US" altLang="ko-KR" sz="1000" dirty="0"/>
          </a:p>
          <a:p>
            <a:r>
              <a:rPr lang="ko-KR" altLang="en-US" sz="1000" dirty="0"/>
              <a:t>직접 수정이 가능합니다</a:t>
            </a:r>
            <a:r>
              <a:rPr lang="en-US" altLang="ko-KR" sz="1000" dirty="0"/>
              <a:t>.</a:t>
            </a:r>
            <a:endParaRPr sz="1000" b="0" i="0" dirty="0">
              <a:solidFill>
                <a:srgbClr val="212529"/>
              </a:solidFill>
              <a:latin typeface="Malgun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B4445-29F0-7E09-8F41-44AB0E506168}"/>
              </a:ext>
            </a:extLst>
          </p:cNvPr>
          <p:cNvSpPr txBox="1"/>
          <p:nvPr/>
        </p:nvSpPr>
        <p:spPr>
          <a:xfrm>
            <a:off x="278217" y="3781937"/>
            <a:ext cx="362952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000" b="1" dirty="0"/>
              <a:t>③ 작성 가이드 </a:t>
            </a:r>
            <a:r>
              <a:rPr lang="ko-KR" altLang="en-US" sz="1000" b="1" dirty="0" err="1"/>
              <a:t>토글</a:t>
            </a:r>
            <a:br>
              <a:rPr lang="ko-KR" altLang="en-US" sz="1000" dirty="0"/>
            </a:br>
            <a:r>
              <a:rPr lang="en-US" altLang="ko-KR" sz="1000" dirty="0"/>
              <a:t>— </a:t>
            </a:r>
            <a:r>
              <a:rPr lang="ko-KR" altLang="en-US" sz="1000" dirty="0"/>
              <a:t>체크 시 라벨 미리보기 영역에 </a:t>
            </a:r>
            <a:r>
              <a:rPr lang="en-US" altLang="ko-KR" sz="1000" dirty="0"/>
              <a:t>GHS </a:t>
            </a:r>
            <a:r>
              <a:rPr lang="ko-KR" altLang="en-US" sz="1000" dirty="0"/>
              <a:t>규격 배치 가이드라인이 </a:t>
            </a:r>
            <a:endParaRPr lang="en-US" altLang="ko-KR" sz="1000" dirty="0"/>
          </a:p>
          <a:p>
            <a:r>
              <a:rPr lang="ko-KR" altLang="en-US" sz="1000" dirty="0"/>
              <a:t>오버레이로 표시되어 법적 기재 요건 충족 여부를 </a:t>
            </a:r>
            <a:endParaRPr lang="en-US" altLang="ko-KR" sz="1000" dirty="0"/>
          </a:p>
          <a:p>
            <a:r>
              <a:rPr lang="ko-KR" altLang="en-US" sz="1000" dirty="0"/>
              <a:t>시각적으로 확인할 수 있습니다</a:t>
            </a:r>
            <a:r>
              <a:rPr lang="en-US" altLang="ko-KR" sz="1000" dirty="0"/>
              <a:t>.</a:t>
            </a:r>
            <a:endParaRPr sz="1000" b="0" i="0" dirty="0">
              <a:solidFill>
                <a:srgbClr val="212529"/>
              </a:solidFill>
              <a:latin typeface="Malgun Gothic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D7AF251-DC70-09B2-7C2F-42457163F45A}"/>
              </a:ext>
            </a:extLst>
          </p:cNvPr>
          <p:cNvSpPr/>
          <p:nvPr/>
        </p:nvSpPr>
        <p:spPr>
          <a:xfrm>
            <a:off x="4055698" y="345347"/>
            <a:ext cx="244349" cy="19789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FE502AE-41F0-CF9A-E69E-2DC6E81E0BBA}"/>
              </a:ext>
            </a:extLst>
          </p:cNvPr>
          <p:cNvSpPr/>
          <p:nvPr/>
        </p:nvSpPr>
        <p:spPr>
          <a:xfrm>
            <a:off x="4055698" y="664504"/>
            <a:ext cx="244349" cy="19789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2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05B2707-CB08-F12E-20AC-5D1E85F59205}"/>
              </a:ext>
            </a:extLst>
          </p:cNvPr>
          <p:cNvSpPr/>
          <p:nvPr/>
        </p:nvSpPr>
        <p:spPr>
          <a:xfrm>
            <a:off x="6991117" y="408056"/>
            <a:ext cx="244349" cy="19789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3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332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07714-5B41-A499-B21D-35DAD6F54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AC7A94-FE40-A318-A769-E5AB2AB14E4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3035C7-B7F9-B81C-C491-CE1A97D59CE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C17B64-62DD-5A68-2BC6-1D3F84808F6C}"/>
              </a:ext>
            </a:extLst>
          </p:cNvPr>
          <p:cNvSpPr txBox="1"/>
          <p:nvPr/>
        </p:nvSpPr>
        <p:spPr>
          <a:xfrm>
            <a:off x="365760" y="128016"/>
            <a:ext cx="8229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02  화면 구성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C6931-B1A8-7364-B7CD-8EDBDC20B186}"/>
              </a:ext>
            </a:extLst>
          </p:cNvPr>
          <p:cNvSpPr txBox="1"/>
          <p:nvPr/>
        </p:nvSpPr>
        <p:spPr>
          <a:xfrm>
            <a:off x="365760" y="533471"/>
            <a:ext cx="32848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 dirty="0">
                <a:solidFill>
                  <a:srgbClr val="02B0AA"/>
                </a:solidFill>
                <a:latin typeface="Malgun Gothic"/>
              </a:rPr>
              <a:t>3개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패널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레이아웃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— PDF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뷰어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/ </a:t>
            </a:r>
            <a:r>
              <a:rPr sz="1400" b="1" i="0" dirty="0" err="1">
                <a:solidFill>
                  <a:srgbClr val="02B0AA"/>
                </a:solidFill>
                <a:latin typeface="Malgun Gothic"/>
              </a:rPr>
              <a:t>편집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/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미리보기</a:t>
            </a:r>
            <a:endParaRPr sz="1050" b="0" i="0" dirty="0">
              <a:solidFill>
                <a:srgbClr val="02B0AA"/>
              </a:solidFill>
              <a:latin typeface="Malgun Gothic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2042D0D-020D-D29A-6F71-42B0B7E141BF}"/>
              </a:ext>
            </a:extLst>
          </p:cNvPr>
          <p:cNvGrpSpPr/>
          <p:nvPr/>
        </p:nvGrpSpPr>
        <p:grpSpPr>
          <a:xfrm>
            <a:off x="166823" y="950976"/>
            <a:ext cx="2697480" cy="1280160"/>
            <a:chOff x="3154680" y="3611880"/>
            <a:chExt cx="2697480" cy="12801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252AFD9-42AD-D303-2B8D-0A8FCC92C582}"/>
                </a:ext>
              </a:extLst>
            </p:cNvPr>
            <p:cNvSpPr/>
            <p:nvPr/>
          </p:nvSpPr>
          <p:spPr>
            <a:xfrm>
              <a:off x="3154680" y="3611880"/>
              <a:ext cx="2697480" cy="1280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ED4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9B97B78-6550-6BF3-5DCE-C6AB3BC92091}"/>
                </a:ext>
              </a:extLst>
            </p:cNvPr>
            <p:cNvSpPr/>
            <p:nvPr/>
          </p:nvSpPr>
          <p:spPr>
            <a:xfrm>
              <a:off x="3154680" y="3611880"/>
              <a:ext cx="2697480" cy="329184"/>
            </a:xfrm>
            <a:prstGeom prst="rect">
              <a:avLst/>
            </a:prstGeom>
            <a:solidFill>
              <a:srgbClr val="145A7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987BC97-788C-24C3-3A1F-0C6466066866}"/>
                </a:ext>
              </a:extLst>
            </p:cNvPr>
            <p:cNvSpPr txBox="1"/>
            <p:nvPr/>
          </p:nvSpPr>
          <p:spPr>
            <a:xfrm>
              <a:off x="3264408" y="3675887"/>
              <a:ext cx="2532888" cy="2194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1" i="0">
                  <a:solidFill>
                    <a:srgbClr val="FFFFFF"/>
                  </a:solidFill>
                  <a:latin typeface="Malgun Gothic"/>
                </a:rPr>
                <a:t>📋  추출 결과 편집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E44B9E-5388-D5A1-0C45-D1FF0EF4F509}"/>
                </a:ext>
              </a:extLst>
            </p:cNvPr>
            <p:cNvSpPr txBox="1"/>
            <p:nvPr/>
          </p:nvSpPr>
          <p:spPr>
            <a:xfrm>
              <a:off x="3291840" y="4023360"/>
              <a:ext cx="2496312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00" b="0" i="0">
                  <a:solidFill>
                    <a:srgbClr val="212529"/>
                  </a:solidFill>
                  <a:latin typeface="Malgun Gothic"/>
                </a:rPr>
                <a:t>▸  제품명·신호어·H·P코드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9491714-1976-3ECF-830D-18A7074BA5A3}"/>
                </a:ext>
              </a:extLst>
            </p:cNvPr>
            <p:cNvSpPr txBox="1"/>
            <p:nvPr/>
          </p:nvSpPr>
          <p:spPr>
            <a:xfrm>
              <a:off x="3291840" y="4315968"/>
              <a:ext cx="2496312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00" b="0" i="0">
                  <a:solidFill>
                    <a:srgbClr val="212529"/>
                  </a:solidFill>
                  <a:latin typeface="Malgun Gothic"/>
                </a:rPr>
                <a:t>▸  GHS 그림문자 선택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03A8D3-1E8D-D6D1-754F-AE81F916681D}"/>
                </a:ext>
              </a:extLst>
            </p:cNvPr>
            <p:cNvSpPr txBox="1"/>
            <p:nvPr/>
          </p:nvSpPr>
          <p:spPr>
            <a:xfrm>
              <a:off x="3291840" y="4608576"/>
              <a:ext cx="2496312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00" b="0" i="0">
                  <a:solidFill>
                    <a:srgbClr val="212529"/>
                  </a:solidFill>
                  <a:latin typeface="Malgun Gothic"/>
                </a:rPr>
                <a:t>▸  글자 크기 조절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B29E709-1B51-C9BA-1B1D-1F3DB940EB40}"/>
              </a:ext>
            </a:extLst>
          </p:cNvPr>
          <p:cNvGrpSpPr/>
          <p:nvPr/>
        </p:nvGrpSpPr>
        <p:grpSpPr>
          <a:xfrm>
            <a:off x="166823" y="2255352"/>
            <a:ext cx="3736104" cy="2760131"/>
            <a:chOff x="320040" y="3611880"/>
            <a:chExt cx="2697480" cy="1280160"/>
          </a:xfrm>
        </p:grpSpPr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F37D122E-9CEB-572E-57FA-EADD8DBB5176}"/>
                </a:ext>
              </a:extLst>
            </p:cNvPr>
            <p:cNvSpPr/>
            <p:nvPr/>
          </p:nvSpPr>
          <p:spPr>
            <a:xfrm>
              <a:off x="320040" y="3611880"/>
              <a:ext cx="2697480" cy="1280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ED4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F5E8688-98B2-916F-6F10-0F637A4939F8}"/>
                </a:ext>
              </a:extLst>
            </p:cNvPr>
            <p:cNvSpPr txBox="1"/>
            <p:nvPr/>
          </p:nvSpPr>
          <p:spPr>
            <a:xfrm>
              <a:off x="419070" y="3660023"/>
              <a:ext cx="2596221" cy="2569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ko-KR" altLang="en-US" sz="1000" b="1" dirty="0"/>
                <a:t>④ 그림문자 선택</a:t>
              </a:r>
              <a:br>
                <a:rPr lang="ko-KR" altLang="en-US" sz="1000" dirty="0"/>
              </a:br>
              <a:r>
                <a:rPr lang="en-US" altLang="ko-KR" sz="1000" dirty="0"/>
                <a:t>— </a:t>
              </a:r>
              <a:r>
                <a:rPr lang="ko-KR" altLang="en-US" sz="1000" dirty="0"/>
                <a:t>인화성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자극성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건강유해성 등 </a:t>
              </a:r>
              <a:r>
                <a:rPr lang="en-US" altLang="ko-KR" sz="1000" dirty="0"/>
                <a:t>GHS </a:t>
              </a:r>
              <a:r>
                <a:rPr lang="ko-KR" altLang="en-US" sz="1000" dirty="0" err="1"/>
                <a:t>픽토그램을</a:t>
              </a:r>
              <a:r>
                <a:rPr lang="ko-KR" altLang="en-US" sz="1000" dirty="0"/>
                <a:t> </a:t>
              </a:r>
              <a:endParaRPr lang="en-US" altLang="ko-KR" sz="1000" dirty="0"/>
            </a:p>
            <a:p>
              <a:r>
                <a:rPr lang="ko-KR" altLang="en-US" sz="1000" dirty="0"/>
                <a:t>체크박스로 개별 선택하여 라벨에 포함할 항목을 지정합니다</a:t>
              </a:r>
              <a:r>
                <a:rPr lang="en-US" altLang="ko-KR" sz="1000" dirty="0"/>
                <a:t>.</a:t>
              </a:r>
              <a:endParaRPr sz="1000" b="0" i="0" dirty="0">
                <a:solidFill>
                  <a:srgbClr val="212529"/>
                </a:solidFill>
                <a:latin typeface="Malgun Gothic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360278B7-8C60-3C42-2F19-76D10AC7D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416" y="199514"/>
            <a:ext cx="4420944" cy="464422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A378BB1-6000-1641-2E87-234AAD858063}"/>
              </a:ext>
            </a:extLst>
          </p:cNvPr>
          <p:cNvSpPr txBox="1"/>
          <p:nvPr/>
        </p:nvSpPr>
        <p:spPr>
          <a:xfrm>
            <a:off x="303982" y="3030287"/>
            <a:ext cx="313098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000" b="1" dirty="0"/>
              <a:t>⑤ 글자 크기 설정</a:t>
            </a:r>
            <a:br>
              <a:rPr lang="ko-KR" altLang="en-US" sz="1000" dirty="0"/>
            </a:br>
            <a:r>
              <a:rPr lang="en-US" altLang="ko-KR" sz="1000" dirty="0"/>
              <a:t>— </a:t>
            </a:r>
            <a:r>
              <a:rPr lang="ko-KR" altLang="en-US" sz="1000" dirty="0" err="1"/>
              <a:t>시약명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신호어</a:t>
            </a:r>
            <a:r>
              <a:rPr lang="en-US" altLang="ko-KR" sz="1000" dirty="0"/>
              <a:t>, </a:t>
            </a:r>
            <a:r>
              <a:rPr lang="ko-KR" altLang="en-US" sz="1000" dirty="0"/>
              <a:t>제목</a:t>
            </a:r>
            <a:r>
              <a:rPr lang="en-US" altLang="ko-KR" sz="1000" dirty="0"/>
              <a:t>, </a:t>
            </a:r>
            <a:r>
              <a:rPr lang="ko-KR" altLang="en-US" sz="1000" dirty="0"/>
              <a:t>유해문구</a:t>
            </a:r>
            <a:r>
              <a:rPr lang="en-US" altLang="ko-KR" sz="1000" dirty="0"/>
              <a:t>, </a:t>
            </a:r>
            <a:r>
              <a:rPr lang="ko-KR" altLang="en-US" sz="1000" dirty="0"/>
              <a:t>예방문구</a:t>
            </a:r>
            <a:r>
              <a:rPr lang="en-US" altLang="ko-KR" sz="1000" dirty="0"/>
              <a:t>, </a:t>
            </a:r>
            <a:r>
              <a:rPr lang="ko-KR" altLang="en-US" sz="1000" dirty="0"/>
              <a:t>공급자</a:t>
            </a:r>
            <a:r>
              <a:rPr lang="en-US" altLang="ko-KR" sz="1000" dirty="0"/>
              <a:t>, </a:t>
            </a:r>
          </a:p>
          <a:p>
            <a:r>
              <a:rPr lang="en-US" altLang="ko-KR" sz="1000" dirty="0"/>
              <a:t>MSDS </a:t>
            </a:r>
            <a:r>
              <a:rPr lang="ko-KR" altLang="en-US" sz="1000" dirty="0"/>
              <a:t>로고</a:t>
            </a:r>
            <a:r>
              <a:rPr lang="en-US" altLang="ko-KR" sz="1000" dirty="0"/>
              <a:t>, </a:t>
            </a:r>
            <a:r>
              <a:rPr lang="ko-KR" altLang="en-US" sz="1000" dirty="0"/>
              <a:t>그림문자 배율 등 항목별 폰트 크기를 </a:t>
            </a:r>
            <a:endParaRPr lang="en-US" altLang="ko-KR" sz="1000" dirty="0"/>
          </a:p>
          <a:p>
            <a:r>
              <a:rPr lang="ko-KR" altLang="en-US" sz="1000" dirty="0"/>
              <a:t>개별 조정할 수 있습니다</a:t>
            </a:r>
            <a:r>
              <a:rPr lang="en-US" altLang="ko-KR" sz="1000" dirty="0"/>
              <a:t>.</a:t>
            </a:r>
            <a:endParaRPr sz="1000" b="0" i="0" dirty="0">
              <a:solidFill>
                <a:srgbClr val="212529"/>
              </a:solidFill>
              <a:latin typeface="Malgun Gothic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29F5A055-39E8-FB1D-58ED-E4CCF87951F9}"/>
              </a:ext>
            </a:extLst>
          </p:cNvPr>
          <p:cNvSpPr/>
          <p:nvPr/>
        </p:nvSpPr>
        <p:spPr>
          <a:xfrm>
            <a:off x="3916497" y="199514"/>
            <a:ext cx="244349" cy="19789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4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7AFE0BD8-42A9-FBB5-24CB-78F42B5EA5D5}"/>
              </a:ext>
            </a:extLst>
          </p:cNvPr>
          <p:cNvSpPr/>
          <p:nvPr/>
        </p:nvSpPr>
        <p:spPr>
          <a:xfrm>
            <a:off x="3916496" y="3420806"/>
            <a:ext cx="244349" cy="19789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5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697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7D9BF-58A8-40C9-B6BB-44194FB6B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C78AAB-DE70-86F0-F092-4E8E9929814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1685FE-7E45-1946-4C44-BE422914936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87CCE-98B6-DA18-BBF7-94B118CC39AE}"/>
              </a:ext>
            </a:extLst>
          </p:cNvPr>
          <p:cNvSpPr txBox="1"/>
          <p:nvPr/>
        </p:nvSpPr>
        <p:spPr>
          <a:xfrm>
            <a:off x="365760" y="128016"/>
            <a:ext cx="8229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02  화면 구성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EA6F5-1BA7-EE1B-C6A3-940CAD8191E4}"/>
              </a:ext>
            </a:extLst>
          </p:cNvPr>
          <p:cNvSpPr txBox="1"/>
          <p:nvPr/>
        </p:nvSpPr>
        <p:spPr>
          <a:xfrm>
            <a:off x="365760" y="548746"/>
            <a:ext cx="337464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 dirty="0">
                <a:solidFill>
                  <a:srgbClr val="02B0AA"/>
                </a:solidFill>
                <a:latin typeface="Malgun Gothic"/>
              </a:rPr>
              <a:t>3개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패널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레이아웃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— PDF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뷰어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/ </a:t>
            </a:r>
            <a:r>
              <a:rPr sz="1050" b="0" i="0" dirty="0" err="1">
                <a:solidFill>
                  <a:srgbClr val="02B0AA"/>
                </a:solidFill>
                <a:latin typeface="Malgun Gothic"/>
              </a:rPr>
              <a:t>편집</a:t>
            </a:r>
            <a:r>
              <a:rPr sz="1050" b="0" i="0" dirty="0">
                <a:solidFill>
                  <a:srgbClr val="02B0AA"/>
                </a:solidFill>
                <a:latin typeface="Malgun Gothic"/>
              </a:rPr>
              <a:t> / </a:t>
            </a:r>
            <a:r>
              <a:rPr sz="1400" b="1" i="0" dirty="0" err="1">
                <a:solidFill>
                  <a:srgbClr val="02B0AA"/>
                </a:solidFill>
                <a:latin typeface="Malgun Gothic"/>
              </a:rPr>
              <a:t>미리보기</a:t>
            </a:r>
            <a:endParaRPr sz="1050" b="1" i="0" dirty="0">
              <a:solidFill>
                <a:srgbClr val="02B0AA"/>
              </a:solidFill>
              <a:latin typeface="Malgun Gothic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232F928-9F95-C496-7719-C1FEA5EBB765}"/>
              </a:ext>
            </a:extLst>
          </p:cNvPr>
          <p:cNvGrpSpPr/>
          <p:nvPr/>
        </p:nvGrpSpPr>
        <p:grpSpPr>
          <a:xfrm>
            <a:off x="166823" y="961577"/>
            <a:ext cx="2697480" cy="1280160"/>
            <a:chOff x="5989320" y="3611880"/>
            <a:chExt cx="2697480" cy="12801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C9EF5A1-E6B4-99F3-FBDB-1A182F0F9730}"/>
                </a:ext>
              </a:extLst>
            </p:cNvPr>
            <p:cNvSpPr/>
            <p:nvPr/>
          </p:nvSpPr>
          <p:spPr>
            <a:xfrm>
              <a:off x="5989320" y="3611880"/>
              <a:ext cx="2697480" cy="1280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ED4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DF7207D-387F-6D5D-285E-2DF2E2F2C78D}"/>
                </a:ext>
              </a:extLst>
            </p:cNvPr>
            <p:cNvSpPr/>
            <p:nvPr/>
          </p:nvSpPr>
          <p:spPr>
            <a:xfrm>
              <a:off x="5989320" y="3611880"/>
              <a:ext cx="2697480" cy="329184"/>
            </a:xfrm>
            <a:prstGeom prst="rect">
              <a:avLst/>
            </a:prstGeom>
            <a:solidFill>
              <a:srgbClr val="0D5C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30DBD5-C967-B447-48A7-85A1BE0ABE9A}"/>
                </a:ext>
              </a:extLst>
            </p:cNvPr>
            <p:cNvSpPr txBox="1"/>
            <p:nvPr/>
          </p:nvSpPr>
          <p:spPr>
            <a:xfrm>
              <a:off x="6099048" y="3675887"/>
              <a:ext cx="2532888" cy="21945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50" b="1" i="0">
                  <a:solidFill>
                    <a:srgbClr val="FFFFFF"/>
                  </a:solidFill>
                  <a:latin typeface="Malgun Gothic"/>
                </a:rPr>
                <a:t>🏷  경고표지 미리보기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406D4D-60CA-2CA2-FBC2-73A6B6F0BB0C}"/>
                </a:ext>
              </a:extLst>
            </p:cNvPr>
            <p:cNvSpPr txBox="1"/>
            <p:nvPr/>
          </p:nvSpPr>
          <p:spPr>
            <a:xfrm>
              <a:off x="6126480" y="4023360"/>
              <a:ext cx="2496312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00" b="0" i="0">
                  <a:solidFill>
                    <a:srgbClr val="212529"/>
                  </a:solidFill>
                  <a:latin typeface="Malgun Gothic"/>
                </a:rPr>
                <a:t>▸  실시간 라벨 미리보기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DA70E31-DFA4-D1DF-032A-C10321B1B147}"/>
                </a:ext>
              </a:extLst>
            </p:cNvPr>
            <p:cNvSpPr txBox="1"/>
            <p:nvPr/>
          </p:nvSpPr>
          <p:spPr>
            <a:xfrm>
              <a:off x="6126480" y="4315968"/>
              <a:ext cx="2496312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00" b="0" i="0">
                  <a:solidFill>
                    <a:srgbClr val="212529"/>
                  </a:solidFill>
                  <a:latin typeface="Malgun Gothic"/>
                </a:rPr>
                <a:t>▸  인쇄 HTML 생성 버튼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BE03F18-7A11-BE4A-EF0D-30395B7B8AE0}"/>
                </a:ext>
              </a:extLst>
            </p:cNvPr>
            <p:cNvSpPr txBox="1"/>
            <p:nvPr/>
          </p:nvSpPr>
          <p:spPr>
            <a:xfrm>
              <a:off x="6126480" y="4608576"/>
              <a:ext cx="2496312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000" b="0" i="0">
                  <a:solidFill>
                    <a:srgbClr val="212529"/>
                  </a:solidFill>
                  <a:latin typeface="Malgun Gothic"/>
                </a:rPr>
                <a:t>▸  브라우저 인쇄 연동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9FD2587-C7AA-561C-255A-EE18A1C6AF80}"/>
              </a:ext>
            </a:extLst>
          </p:cNvPr>
          <p:cNvGrpSpPr/>
          <p:nvPr/>
        </p:nvGrpSpPr>
        <p:grpSpPr>
          <a:xfrm>
            <a:off x="166823" y="2255352"/>
            <a:ext cx="3736104" cy="2760131"/>
            <a:chOff x="320040" y="3611880"/>
            <a:chExt cx="2697480" cy="1280160"/>
          </a:xfrm>
        </p:grpSpPr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6F011B11-1589-A5A0-30B2-E93C8D2F0B4F}"/>
                </a:ext>
              </a:extLst>
            </p:cNvPr>
            <p:cNvSpPr/>
            <p:nvPr/>
          </p:nvSpPr>
          <p:spPr>
            <a:xfrm>
              <a:off x="320040" y="3611880"/>
              <a:ext cx="2697480" cy="1280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ED4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4ABEEC9-B26E-1D79-B800-ABFA42DE359D}"/>
                </a:ext>
              </a:extLst>
            </p:cNvPr>
            <p:cNvSpPr txBox="1"/>
            <p:nvPr/>
          </p:nvSpPr>
          <p:spPr>
            <a:xfrm>
              <a:off x="356169" y="3643482"/>
              <a:ext cx="2441133" cy="47106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ko-KR" altLang="en-US" sz="1000" b="1" dirty="0"/>
                <a:t>① 경고표지 미리보기 영역</a:t>
              </a:r>
              <a:br>
                <a:rPr lang="ko-KR" altLang="en-US" sz="1000" dirty="0"/>
              </a:br>
              <a:r>
                <a:rPr lang="en-US" altLang="ko-KR" sz="1000" dirty="0"/>
                <a:t>— </a:t>
              </a:r>
              <a:r>
                <a:rPr lang="ko-KR" altLang="en-US" sz="1000" dirty="0"/>
                <a:t>편집 패널에서 설정한 내용이 실제 라벨 형태로 실시간 </a:t>
              </a:r>
              <a:endParaRPr lang="en-US" altLang="ko-KR" sz="1000" dirty="0"/>
            </a:p>
            <a:p>
              <a:r>
                <a:rPr lang="ko-KR" altLang="en-US" sz="1000" dirty="0" err="1"/>
                <a:t>렌더링됩니다</a:t>
              </a:r>
              <a:r>
                <a:rPr lang="en-US" altLang="ko-KR" sz="1000" dirty="0"/>
                <a:t>. </a:t>
              </a:r>
              <a:r>
                <a:rPr lang="ko-KR" altLang="en-US" sz="1000" dirty="0"/>
                <a:t>제품명</a:t>
              </a:r>
              <a:r>
                <a:rPr lang="en-US" altLang="ko-KR" sz="1000" dirty="0"/>
                <a:t>, </a:t>
              </a:r>
            </a:p>
            <a:p>
              <a:r>
                <a:rPr lang="en-US" altLang="ko-KR" sz="1000" dirty="0"/>
                <a:t>GHS </a:t>
              </a:r>
              <a:r>
                <a:rPr lang="ko-KR" altLang="en-US" sz="1000" dirty="0" err="1"/>
                <a:t>픽토그램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인화성</a:t>
              </a:r>
              <a:r>
                <a:rPr lang="en-US" altLang="ko-KR" sz="1000" dirty="0"/>
                <a:t>·</a:t>
              </a:r>
              <a:r>
                <a:rPr lang="ko-KR" altLang="en-US" sz="1000" dirty="0"/>
                <a:t>자극성</a:t>
              </a:r>
              <a:r>
                <a:rPr lang="en-US" altLang="ko-KR" sz="1000" dirty="0"/>
                <a:t>·</a:t>
              </a:r>
              <a:r>
                <a:rPr lang="ko-KR" altLang="en-US" sz="1000" dirty="0"/>
                <a:t>건강유해성 등</a:t>
              </a:r>
              <a:r>
                <a:rPr lang="en-US" altLang="ko-KR" sz="1000" dirty="0"/>
                <a:t>), </a:t>
              </a:r>
            </a:p>
            <a:p>
              <a:r>
                <a:rPr lang="ko-KR" altLang="en-US" sz="1000" dirty="0" err="1"/>
                <a:t>신호어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위험</a:t>
              </a:r>
              <a:r>
                <a:rPr lang="en-US" altLang="ko-KR" sz="1000" dirty="0"/>
                <a:t>), H</a:t>
              </a:r>
              <a:r>
                <a:rPr lang="ko-KR" altLang="en-US" sz="1000" dirty="0"/>
                <a:t>코드</a:t>
              </a:r>
              <a:r>
                <a:rPr lang="en-US" altLang="ko-KR" sz="1000" dirty="0"/>
                <a:t>/P</a:t>
              </a:r>
              <a:r>
                <a:rPr lang="ko-KR" altLang="en-US" sz="1000" dirty="0"/>
                <a:t>코드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공급자 정보가 한 라벨 안에 </a:t>
              </a:r>
              <a:endParaRPr lang="en-US" altLang="ko-KR" sz="1000" dirty="0"/>
            </a:p>
            <a:p>
              <a:r>
                <a:rPr lang="ko-KR" altLang="en-US" sz="1000" dirty="0"/>
                <a:t>규격대로 배치됩니다</a:t>
              </a:r>
              <a:r>
                <a:rPr lang="en-US" altLang="ko-KR" sz="1000" dirty="0"/>
                <a:t>.</a:t>
              </a:r>
              <a:endParaRPr sz="1000" b="0" i="0" dirty="0">
                <a:solidFill>
                  <a:srgbClr val="212529"/>
                </a:solidFill>
                <a:latin typeface="Malgun Gothic"/>
              </a:endParaRPr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7AA5B1F3-85E2-6098-94C9-DD036747F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530" y="128016"/>
            <a:ext cx="4221341" cy="4798934"/>
          </a:xfrm>
          <a:prstGeom prst="rect">
            <a:avLst/>
          </a:prstGeom>
        </p:spPr>
      </p:pic>
      <p:sp>
        <p:nvSpPr>
          <p:cNvPr id="34" name="타원 33">
            <a:extLst>
              <a:ext uri="{FF2B5EF4-FFF2-40B4-BE49-F238E27FC236}">
                <a16:creationId xmlns:a16="http://schemas.microsoft.com/office/drawing/2014/main" id="{55FA5A96-421B-BC53-3D7C-1DB5C617A2E3}"/>
              </a:ext>
            </a:extLst>
          </p:cNvPr>
          <p:cNvSpPr/>
          <p:nvPr/>
        </p:nvSpPr>
        <p:spPr>
          <a:xfrm>
            <a:off x="4160846" y="623500"/>
            <a:ext cx="244349" cy="19789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1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9FD89073-9F88-852B-8813-5D211787A180}"/>
              </a:ext>
            </a:extLst>
          </p:cNvPr>
          <p:cNvSpPr/>
          <p:nvPr/>
        </p:nvSpPr>
        <p:spPr>
          <a:xfrm>
            <a:off x="7242300" y="203887"/>
            <a:ext cx="244349" cy="19789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2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684321-1C87-AB98-6635-CC5DB824FCDB}"/>
              </a:ext>
            </a:extLst>
          </p:cNvPr>
          <p:cNvSpPr txBox="1"/>
          <p:nvPr/>
        </p:nvSpPr>
        <p:spPr>
          <a:xfrm>
            <a:off x="183639" y="3521364"/>
            <a:ext cx="371928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000" dirty="0"/>
              <a:t>②</a:t>
            </a:r>
            <a:r>
              <a:rPr lang="ko-KR" altLang="en-US" sz="1000" b="1" dirty="0"/>
              <a:t> 인쇄 </a:t>
            </a:r>
            <a:r>
              <a:rPr lang="en-US" altLang="ko-KR" sz="1000" b="1" dirty="0"/>
              <a:t>HTML </a:t>
            </a:r>
            <a:r>
              <a:rPr lang="ko-KR" altLang="en-US" sz="1000" b="1" dirty="0"/>
              <a:t>생성 버튼</a:t>
            </a:r>
            <a:br>
              <a:rPr lang="ko-KR" altLang="en-US" sz="1000" dirty="0"/>
            </a:br>
            <a:r>
              <a:rPr lang="en-US" altLang="ko-KR" sz="1000" dirty="0"/>
              <a:t>— </a:t>
            </a:r>
            <a:r>
              <a:rPr lang="ko-KR" altLang="en-US" sz="1000" dirty="0"/>
              <a:t>버튼 클릭 한 번으로 인쇄에 최적화된 </a:t>
            </a:r>
            <a:r>
              <a:rPr lang="en-US" altLang="ko-KR" sz="1000" dirty="0"/>
              <a:t>HTML </a:t>
            </a:r>
            <a:r>
              <a:rPr lang="ko-KR" altLang="en-US" sz="1000" dirty="0"/>
              <a:t>파일이 생성되며</a:t>
            </a:r>
            <a:r>
              <a:rPr lang="en-US" altLang="ko-KR" sz="1000" dirty="0"/>
              <a:t>,</a:t>
            </a:r>
          </a:p>
          <a:p>
            <a:r>
              <a:rPr lang="en-US" altLang="ko-KR" sz="1000" dirty="0"/>
              <a:t> </a:t>
            </a:r>
            <a:r>
              <a:rPr lang="ko-KR" altLang="en-US" sz="1000" dirty="0"/>
              <a:t>브라우저에서 바로 열어 실제 라벨 용지에 출력할 수 있습니다</a:t>
            </a:r>
            <a:r>
              <a:rPr lang="en-US" altLang="ko-KR" sz="1000" dirty="0"/>
              <a:t>.</a:t>
            </a:r>
            <a:endParaRPr sz="1000" b="0" i="0" dirty="0">
              <a:solidFill>
                <a:srgbClr val="212529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78941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8229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03  Step 1 — PDF 불러오기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2B0AA"/>
                </a:solidFill>
                <a:latin typeface="Malgun Gothic"/>
              </a:rPr>
              <a:t>MSDS PDF 파일 선택 및 텍스트 자동 추출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4251960" cy="841248"/>
          </a:xfrm>
          <a:prstGeom prst="rect">
            <a:avLst/>
          </a:prstGeom>
          <a:solidFill>
            <a:srgbClr val="F0F4F8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84048" y="1188720"/>
            <a:ext cx="384048" cy="384048"/>
          </a:xfrm>
          <a:prstGeom prst="ellipse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042416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PDF 파일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335024"/>
            <a:ext cx="212429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latin typeface="Malgun Gothic"/>
              </a:rPr>
              <a:t>[PDF 불러오기] 버튼 클릭
파일 탐색기에서 MSDS PDF 선택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75104"/>
            <a:ext cx="4251960" cy="841248"/>
          </a:xfrm>
          <a:prstGeom prst="rect">
            <a:avLst/>
          </a:prstGeom>
          <a:solidFill>
            <a:srgbClr val="F0F4F8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84048" y="2176272"/>
            <a:ext cx="384048" cy="384048"/>
          </a:xfrm>
          <a:prstGeom prst="ellipse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29968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자동 텍스트 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22576"/>
            <a:ext cx="20922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latin typeface="Malgun Gothic"/>
              </a:rPr>
              <a:t>PyMuPDF로 전체 텍스트 파싱
제품명·신호어·H·P코드 자동 인식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62656"/>
            <a:ext cx="4251960" cy="841248"/>
          </a:xfrm>
          <a:prstGeom prst="rect">
            <a:avLst/>
          </a:prstGeom>
          <a:solidFill>
            <a:srgbClr val="F0F4F8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84048" y="3163824"/>
            <a:ext cx="384048" cy="384048"/>
          </a:xfrm>
          <a:prstGeom prst="ellipse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17520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PDF 뷰어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18758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latin typeface="Malgun Gothic"/>
              </a:rPr>
              <a:t>좌측 패널에 PDF 이미지 표시
◀ ▶ 버튼으로 페이지 탐색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50208"/>
            <a:ext cx="4251960" cy="841248"/>
          </a:xfrm>
          <a:prstGeom prst="rect">
            <a:avLst/>
          </a:prstGeom>
          <a:solidFill>
            <a:srgbClr val="F0F4F8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84048" y="4151376"/>
            <a:ext cx="384048" cy="384048"/>
          </a:xfrm>
          <a:prstGeom prst="ellipse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05072"/>
            <a:ext cx="3611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원문 텍스트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221406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latin typeface="Malgun Gothic"/>
              </a:rPr>
              <a:t>[원문 보기] 버튼 → 추출 원문 확인
인식 오류 파악에 활용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61061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CED4DA"/>
                </a:solidFill>
                <a:latin typeface="Malgun Gothic"/>
              </a:rPr>
              <a:t>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994660"/>
            <a:ext cx="4069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CED4DA"/>
                </a:solidFill>
                <a:latin typeface="Malgun Gothic"/>
              </a:rPr>
              <a:t>[ PDF 뷰어 패널 캡처 ]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EA819671-9479-CB99-325C-7C8B821DDE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10" b="11383"/>
          <a:stretch>
            <a:fillRect/>
          </a:stretch>
        </p:blipFill>
        <p:spPr>
          <a:xfrm>
            <a:off x="4797849" y="105789"/>
            <a:ext cx="4120301" cy="49090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8229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04  Step 2 — 추출 결과 편집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2B0AA"/>
                </a:solidFill>
                <a:latin typeface="Malgun Gothic"/>
              </a:rPr>
              <a:t>자동 추출된 항목 확인 및 직접 수정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1965960" cy="1188720"/>
          </a:xfrm>
          <a:prstGeom prst="rect">
            <a:avLst/>
          </a:prstGeom>
          <a:solidFill>
            <a:srgbClr val="F0F4F8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1965960" cy="54864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06984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1B2B4B"/>
                </a:solidFill>
                <a:latin typeface="Malgun Gothic"/>
              </a:rPr>
              <a:t>제품명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380744"/>
            <a:ext cx="13452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 dirty="0" err="1">
                <a:latin typeface="Malgun Gothic"/>
              </a:rPr>
              <a:t>추출된</a:t>
            </a:r>
            <a:r>
              <a:rPr sz="1000" b="1" i="0" dirty="0">
                <a:latin typeface="Malgun Gothic"/>
              </a:rPr>
              <a:t> </a:t>
            </a:r>
            <a:r>
              <a:rPr sz="1000" b="1" i="0" dirty="0" err="1">
                <a:latin typeface="Malgun Gothic"/>
              </a:rPr>
              <a:t>화학물질명</a:t>
            </a:r>
            <a:r>
              <a:rPr sz="1000" b="1" i="0" dirty="0">
                <a:latin typeface="Malgun Gothic"/>
              </a:rPr>
              <a:t>.
</a:t>
            </a:r>
            <a:r>
              <a:rPr sz="1000" b="1" i="0" dirty="0" err="1">
                <a:latin typeface="Malgun Gothic"/>
              </a:rPr>
              <a:t>오인식</a:t>
            </a:r>
            <a:r>
              <a:rPr sz="1000" b="1" i="0" dirty="0">
                <a:latin typeface="Malgun Gothic"/>
              </a:rPr>
              <a:t> 시 </a:t>
            </a:r>
            <a:r>
              <a:rPr sz="1000" b="1" i="0" dirty="0" err="1">
                <a:latin typeface="Malgun Gothic"/>
              </a:rPr>
              <a:t>직접</a:t>
            </a:r>
            <a:r>
              <a:rPr sz="1000" b="1" i="0" dirty="0">
                <a:latin typeface="Malgun Gothic"/>
              </a:rPr>
              <a:t> </a:t>
            </a:r>
            <a:r>
              <a:rPr sz="1000" b="1" i="0" dirty="0" err="1">
                <a:latin typeface="Malgun Gothic"/>
              </a:rPr>
              <a:t>수정</a:t>
            </a:r>
            <a:endParaRPr sz="1000" b="1" i="0" dirty="0">
              <a:latin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423160" y="960120"/>
            <a:ext cx="1965960" cy="1188720"/>
          </a:xfrm>
          <a:prstGeom prst="rect">
            <a:avLst/>
          </a:prstGeom>
          <a:solidFill>
            <a:srgbClr val="F0F4F8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23160" y="960120"/>
            <a:ext cx="19659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106984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Malgun Gothic"/>
              </a:rPr>
              <a:t>신호어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380744"/>
            <a:ext cx="19383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000" b="1" dirty="0"/>
              <a:t>위험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경고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빨강</a:t>
            </a:r>
            <a:r>
              <a:rPr lang="en-US" altLang="ko-KR" sz="1000" b="1" dirty="0"/>
              <a:t>) / </a:t>
            </a:r>
            <a:r>
              <a:rPr lang="ko-KR" altLang="en-US" sz="1000" b="1" dirty="0"/>
              <a:t>없음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흑색</a:t>
            </a:r>
            <a:r>
              <a:rPr lang="en-US" altLang="ko-KR" sz="1000" b="1" dirty="0"/>
              <a:t>)</a:t>
            </a:r>
            <a:r>
              <a:rPr lang="ko-KR" altLang="en-US" sz="1000" b="1" dirty="0"/>
              <a:t> </a:t>
            </a:r>
            <a:endParaRPr lang="en-US" altLang="ko-KR" sz="1000" b="1" dirty="0"/>
          </a:p>
          <a:p>
            <a:r>
              <a:rPr lang="en-US" altLang="ko-KR" sz="1000" b="1" dirty="0"/>
              <a:t>— GHS </a:t>
            </a:r>
            <a:r>
              <a:rPr lang="ko-KR" altLang="en-US" sz="1000" b="1" dirty="0"/>
              <a:t>기준 자동 분류</a:t>
            </a:r>
            <a:r>
              <a:rPr lang="en-US" altLang="ko-KR" sz="1000" b="1" dirty="0"/>
              <a:t>. </a:t>
            </a:r>
          </a:p>
          <a:p>
            <a:r>
              <a:rPr lang="ko-KR" altLang="en-US" sz="1000" b="1" dirty="0"/>
              <a:t>알맞게 적용되었는지 확인 필요</a:t>
            </a:r>
            <a:endParaRPr sz="1000" b="1" i="0" dirty="0">
              <a:solidFill>
                <a:srgbClr val="6C757D"/>
              </a:solidFill>
              <a:latin typeface="Malgun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" y="2295144"/>
            <a:ext cx="1965960" cy="1188720"/>
          </a:xfrm>
          <a:prstGeom prst="rect">
            <a:avLst/>
          </a:prstGeom>
          <a:solidFill>
            <a:srgbClr val="F0F4F8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2295144"/>
            <a:ext cx="1965960" cy="54864"/>
          </a:xfrm>
          <a:prstGeom prst="rect">
            <a:avLst/>
          </a:prstGeom>
          <a:solidFill>
            <a:srgbClr val="145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24048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145A72"/>
                </a:solidFill>
                <a:latin typeface="Malgun Gothic"/>
              </a:rPr>
              <a:t>유해·위험문구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2715768"/>
            <a:ext cx="143821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000" b="1" dirty="0"/>
              <a:t>H</a:t>
            </a:r>
            <a:r>
              <a:rPr lang="ko-KR" altLang="en-US" sz="1000" b="1" dirty="0"/>
              <a:t>코드 기반 자동 매칭</a:t>
            </a:r>
            <a:r>
              <a:rPr lang="en-US" altLang="ko-KR" sz="1000" b="1" dirty="0"/>
              <a:t>. </a:t>
            </a:r>
          </a:p>
          <a:p>
            <a:r>
              <a:rPr lang="ko-KR" altLang="en-US" sz="1000" b="1" dirty="0"/>
              <a:t>원본 </a:t>
            </a:r>
            <a:r>
              <a:rPr lang="en-US" altLang="ko-KR" sz="1000" b="1" dirty="0"/>
              <a:t>PDF</a:t>
            </a:r>
            <a:r>
              <a:rPr lang="ko-KR" altLang="en-US" sz="1000" b="1" dirty="0"/>
              <a:t>와 대조하여 </a:t>
            </a:r>
            <a:endParaRPr lang="en-US" altLang="ko-KR" sz="1000" b="1" dirty="0"/>
          </a:p>
          <a:p>
            <a:r>
              <a:rPr lang="ko-KR" altLang="en-US" sz="1000" b="1" dirty="0"/>
              <a:t>누락</a:t>
            </a:r>
            <a:r>
              <a:rPr lang="en-US" altLang="ko-KR" sz="1000" b="1" dirty="0"/>
              <a:t>·</a:t>
            </a:r>
            <a:r>
              <a:rPr lang="ko-KR" altLang="en-US" sz="1000" b="1" dirty="0"/>
              <a:t>오류 여부 확인</a:t>
            </a:r>
            <a:endParaRPr sz="1000" b="1" i="0" dirty="0">
              <a:solidFill>
                <a:srgbClr val="6C757D"/>
              </a:solidFill>
              <a:latin typeface="Malgun Gothi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423160" y="2295144"/>
            <a:ext cx="1965960" cy="1188720"/>
          </a:xfrm>
          <a:prstGeom prst="rect">
            <a:avLst/>
          </a:prstGeom>
          <a:solidFill>
            <a:srgbClr val="F0F4F8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3160" y="2295144"/>
            <a:ext cx="1965960" cy="54864"/>
          </a:xfrm>
          <a:prstGeom prst="rect">
            <a:avLst/>
          </a:prstGeom>
          <a:solidFill>
            <a:srgbClr val="145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14600" y="240487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145A72"/>
                </a:solidFill>
                <a:latin typeface="Malgun Gothic"/>
              </a:rPr>
              <a:t>예방조치문구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2715768"/>
            <a:ext cx="155363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000" b="1" dirty="0"/>
              <a:t>P</a:t>
            </a:r>
            <a:r>
              <a:rPr lang="ko-KR" altLang="en-US" sz="1000" b="1" dirty="0"/>
              <a:t>코드 기반 자동 매칭</a:t>
            </a:r>
            <a:r>
              <a:rPr lang="en-US" altLang="ko-KR" sz="1000" b="1" dirty="0"/>
              <a:t>. </a:t>
            </a:r>
          </a:p>
          <a:p>
            <a:r>
              <a:rPr lang="ko-KR" altLang="en-US" sz="1000" b="1" dirty="0"/>
              <a:t>작성 가이드 체크 후 </a:t>
            </a:r>
            <a:endParaRPr lang="en-US" altLang="ko-KR" sz="1000" b="1" dirty="0"/>
          </a:p>
          <a:p>
            <a:r>
              <a:rPr lang="ko-KR" altLang="en-US" sz="1000" b="1" dirty="0"/>
              <a:t>필수 문구 빠짐없이 기재</a:t>
            </a:r>
            <a:endParaRPr sz="1000" b="1" i="0" dirty="0">
              <a:solidFill>
                <a:srgbClr val="6C757D"/>
              </a:solidFill>
              <a:latin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040" y="3630168"/>
            <a:ext cx="1965960" cy="1188720"/>
          </a:xfrm>
          <a:prstGeom prst="rect">
            <a:avLst/>
          </a:prstGeom>
          <a:solidFill>
            <a:srgbClr val="F0F4F8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630168"/>
            <a:ext cx="1965960" cy="54864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79" y="3739896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6C757D"/>
                </a:solidFill>
                <a:latin typeface="Malgun Gothic"/>
              </a:rPr>
              <a:t>공급자 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050791"/>
            <a:ext cx="16962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 dirty="0" err="1">
                <a:latin typeface="Malgun Gothic"/>
              </a:rPr>
              <a:t>제조사명·주소·긴급연락처</a:t>
            </a:r>
            <a:r>
              <a:rPr sz="1000" b="1" i="0" dirty="0">
                <a:latin typeface="Malgun Gothic"/>
              </a:rPr>
              <a:t>.
</a:t>
            </a:r>
            <a:r>
              <a:rPr sz="1000" b="1" i="0" dirty="0" err="1">
                <a:latin typeface="Malgun Gothic"/>
              </a:rPr>
              <a:t>자유</a:t>
            </a:r>
            <a:r>
              <a:rPr sz="1000" b="1" i="0" dirty="0">
                <a:latin typeface="Malgun Gothic"/>
              </a:rPr>
              <a:t> </a:t>
            </a:r>
            <a:r>
              <a:rPr sz="1000" b="1" i="0" dirty="0" err="1">
                <a:latin typeface="Malgun Gothic"/>
              </a:rPr>
              <a:t>편집</a:t>
            </a:r>
            <a:r>
              <a:rPr sz="1000" b="1" i="0" dirty="0">
                <a:latin typeface="Malgun Gothic"/>
              </a:rPr>
              <a:t> </a:t>
            </a:r>
            <a:r>
              <a:rPr sz="1000" b="1" i="0" dirty="0" err="1">
                <a:latin typeface="Malgun Gothic"/>
              </a:rPr>
              <a:t>가능</a:t>
            </a:r>
            <a:endParaRPr sz="1000" b="1" i="0" dirty="0">
              <a:latin typeface="Malgun Gothic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423160" y="3630168"/>
            <a:ext cx="1965960" cy="1188720"/>
          </a:xfrm>
          <a:prstGeom prst="rect">
            <a:avLst/>
          </a:prstGeom>
          <a:solidFill>
            <a:srgbClr val="F0F4F8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423160" y="3630168"/>
            <a:ext cx="1965960" cy="54864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14600" y="3739896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0D8E8E"/>
                </a:solidFill>
                <a:latin typeface="Malgun Gothic"/>
              </a:rPr>
              <a:t>GHS 그림문자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050791"/>
            <a:ext cx="177324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000" b="1" dirty="0"/>
              <a:t>9</a:t>
            </a:r>
            <a:r>
              <a:rPr lang="ko-KR" altLang="en-US" sz="1000" b="1" dirty="0"/>
              <a:t>종 중 해당 항목 체크</a:t>
            </a:r>
            <a:r>
              <a:rPr lang="en-US" altLang="ko-KR" sz="1000" b="1" dirty="0"/>
              <a:t>. </a:t>
            </a:r>
          </a:p>
          <a:p>
            <a:r>
              <a:rPr lang="ko-KR" altLang="en-US" sz="1000" b="1" dirty="0"/>
              <a:t>원본 </a:t>
            </a:r>
            <a:r>
              <a:rPr lang="en-US" altLang="ko-KR" sz="1000" b="1" dirty="0"/>
              <a:t>PDF </a:t>
            </a:r>
            <a:r>
              <a:rPr lang="ko-KR" altLang="en-US" sz="1000" b="1" dirty="0" err="1"/>
              <a:t>픽토그램과</a:t>
            </a:r>
            <a:r>
              <a:rPr lang="ko-KR" altLang="en-US" sz="1000" b="1" dirty="0"/>
              <a:t> </a:t>
            </a:r>
            <a:endParaRPr lang="en-US" altLang="ko-KR" sz="1000" b="1" dirty="0"/>
          </a:p>
          <a:p>
            <a:r>
              <a:rPr lang="ko-KR" altLang="en-US" sz="1000" b="1" dirty="0"/>
              <a:t>일치 여부 확인</a:t>
            </a:r>
            <a:r>
              <a:rPr lang="en-US" altLang="ko-KR" sz="1000" b="1" dirty="0"/>
              <a:t>. </a:t>
            </a:r>
            <a:r>
              <a:rPr lang="ko-KR" altLang="en-US" sz="1000" b="1" dirty="0"/>
              <a:t>글자 크기도 </a:t>
            </a:r>
            <a:endParaRPr lang="en-US" altLang="ko-KR" sz="1000" b="1" dirty="0"/>
          </a:p>
          <a:p>
            <a:r>
              <a:rPr lang="ko-KR" altLang="en-US" sz="1000" b="1" dirty="0"/>
              <a:t>개별 조절 가능</a:t>
            </a:r>
            <a:endParaRPr sz="1000" b="1" i="0" dirty="0">
              <a:solidFill>
                <a:srgbClr val="6C757D"/>
              </a:solidFill>
              <a:latin typeface="Malgun Gothic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8E5D2F7B-04EE-0D1C-F7AD-A2ACA4E86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602" y="138498"/>
            <a:ext cx="3679702" cy="4532747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1AAE1B9-262E-1DCC-27B4-984338217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254" y="748103"/>
            <a:ext cx="2396866" cy="39231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8229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05  Step 3 — 인쇄 출력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2B0AA"/>
                </a:solidFill>
                <a:latin typeface="Malgun Gothic"/>
              </a:rPr>
              <a:t>경고표지 미리보기 확인 → 인쇄용 HTML 생성 → 브라우저 인쇄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987552"/>
            <a:ext cx="4069080" cy="841248"/>
          </a:xfrm>
          <a:prstGeom prst="rect">
            <a:avLst/>
          </a:prstGeom>
          <a:solidFill>
            <a:srgbClr val="F0F4F8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818888" y="1188720"/>
            <a:ext cx="384048" cy="384048"/>
          </a:xfrm>
          <a:prstGeom prst="ellipse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1042416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미리보기 최종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5232" y="1335024"/>
            <a:ext cx="18806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 dirty="0" err="1">
                <a:latin typeface="Malgun Gothic"/>
              </a:rPr>
              <a:t>우측</a:t>
            </a:r>
            <a:r>
              <a:rPr sz="1000" b="1" i="0" dirty="0">
                <a:latin typeface="Malgun Gothic"/>
              </a:rPr>
              <a:t> </a:t>
            </a:r>
            <a:r>
              <a:rPr sz="1000" b="1" i="0" dirty="0" err="1">
                <a:latin typeface="Malgun Gothic"/>
              </a:rPr>
              <a:t>패널에서</a:t>
            </a:r>
            <a:r>
              <a:rPr sz="1000" b="1" i="0" dirty="0">
                <a:latin typeface="Malgun Gothic"/>
              </a:rPr>
              <a:t> </a:t>
            </a:r>
            <a:r>
              <a:rPr sz="1000" b="1" i="0" dirty="0" err="1">
                <a:latin typeface="Malgun Gothic"/>
              </a:rPr>
              <a:t>제품명·신호어</a:t>
            </a:r>
            <a:r>
              <a:rPr sz="1000" b="1" i="0" dirty="0">
                <a:latin typeface="Malgun Gothic"/>
              </a:rPr>
              <a:t>·
</a:t>
            </a:r>
            <a:r>
              <a:rPr sz="1000" b="1" i="0" dirty="0" err="1">
                <a:latin typeface="Malgun Gothic"/>
              </a:rPr>
              <a:t>그림문자·문구</a:t>
            </a:r>
            <a:r>
              <a:rPr sz="1000" b="1" i="0" dirty="0">
                <a:latin typeface="Malgun Gothic"/>
              </a:rPr>
              <a:t> </a:t>
            </a:r>
            <a:r>
              <a:rPr sz="1000" b="1" i="0" dirty="0" err="1">
                <a:latin typeface="Malgun Gothic"/>
              </a:rPr>
              <a:t>내용</a:t>
            </a:r>
            <a:r>
              <a:rPr sz="1000" b="1" i="0" dirty="0">
                <a:latin typeface="Malgun Gothic"/>
              </a:rPr>
              <a:t> </a:t>
            </a:r>
            <a:r>
              <a:rPr sz="1000" b="1" i="0" dirty="0" err="1">
                <a:latin typeface="Malgun Gothic"/>
              </a:rPr>
              <a:t>점검</a:t>
            </a:r>
            <a:endParaRPr sz="1000" b="1" i="0" dirty="0">
              <a:latin typeface="Malgun Gothi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54880" y="1975104"/>
            <a:ext cx="4069080" cy="841248"/>
          </a:xfrm>
          <a:prstGeom prst="rect">
            <a:avLst/>
          </a:prstGeom>
          <a:solidFill>
            <a:srgbClr val="F0F4F8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18888" y="2176272"/>
            <a:ext cx="384048" cy="384048"/>
          </a:xfrm>
          <a:prstGeom prst="ellipse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2029968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HTML 생성 버튼 클릭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2322576"/>
            <a:ext cx="17411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latin typeface="Malgun Gothic"/>
              </a:rPr>
              <a:t>🖨 [인쇄 HTML 생성] 클릭
print_label.html 자동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962656"/>
            <a:ext cx="4069080" cy="841248"/>
          </a:xfrm>
          <a:prstGeom prst="rect">
            <a:avLst/>
          </a:prstGeom>
          <a:solidFill>
            <a:srgbClr val="F0F4F8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18888" y="3163824"/>
            <a:ext cx="384048" cy="384048"/>
          </a:xfrm>
          <a:prstGeom prst="ellipse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3017520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브라우저에서 인쇄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3310128"/>
            <a:ext cx="222849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latin typeface="Malgun Gothic"/>
              </a:rPr>
              <a:t>Edge/Chrome 자동 실행 → Ctrl+P
여백 '없음', 배율 100% 설정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950208"/>
            <a:ext cx="4069080" cy="841248"/>
          </a:xfrm>
          <a:prstGeom prst="rect">
            <a:avLst/>
          </a:prstGeom>
          <a:solidFill>
            <a:srgbClr val="F0F4F8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18888" y="4151376"/>
            <a:ext cx="384048" cy="384048"/>
          </a:xfrm>
          <a:prstGeom prst="ellipse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4005072"/>
            <a:ext cx="3429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B2B4B"/>
                </a:solidFill>
                <a:latin typeface="Malgun Gothic"/>
              </a:rPr>
              <a:t>라벨지에 출력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4297680"/>
            <a:ext cx="18582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latin typeface="Malgun Gothic"/>
              </a:rPr>
              <a:t>아이라벨 전용지 트레이 삽입
규격(칸 수) 확인 후 인쇄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043C207-F757-692E-CACB-D96BB700B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66" y="841248"/>
            <a:ext cx="4505218" cy="40281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8229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06  라벨 규격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2B0AA"/>
                </a:solidFill>
                <a:latin typeface="Malgun Gothic"/>
              </a:rPr>
              <a:t>아이라벨 3종 규격 — 용도에 맞게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651760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2651760" cy="475488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005840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아이라벨  CL233MP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200686"/>
            <a:ext cx="53732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 dirty="0">
                <a:solidFill>
                  <a:srgbClr val="ADD8E6"/>
                </a:solidFill>
                <a:latin typeface="Malgun Gothic"/>
              </a:rPr>
              <a:t>(9칸)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95291" y="1572768"/>
            <a:ext cx="592697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0D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8E8E"/>
                </a:solidFill>
                <a:latin typeface="Malgun Gothic"/>
              </a:rPr>
              <a:t>62mm × 91mm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6C757D"/>
                </a:solidFill>
                <a:latin typeface="Malgun Gothic"/>
              </a:rPr>
              <a:t>배열: 3×3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46120"/>
            <a:ext cx="2377440" cy="27432"/>
          </a:xfrm>
          <a:prstGeom prst="rect">
            <a:avLst/>
          </a:prstGeom>
          <a:solidFill>
            <a:srgbClr val="CE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35584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C757D"/>
                </a:solidFill>
                <a:latin typeface="Malgun Gothic"/>
              </a:rPr>
              <a:t>권장 용도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93592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212529"/>
                </a:solidFill>
                <a:latin typeface="Malgun Gothic"/>
              </a:rPr>
              <a:t>소용량 시약병
실험실 소분 용기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960120"/>
            <a:ext cx="2651760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0" y="960120"/>
            <a:ext cx="2651760" cy="475488"/>
          </a:xfrm>
          <a:prstGeom prst="rect">
            <a:avLst/>
          </a:prstGeom>
          <a:solidFill>
            <a:srgbClr val="145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10128" y="1005840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아이라벨  CL835MP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1200686"/>
            <a:ext cx="62709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ADD8E6"/>
                </a:solidFill>
                <a:latin typeface="Malgun Gothic"/>
              </a:rPr>
              <a:t>(24칸)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9490" y="1572768"/>
            <a:ext cx="573578" cy="228600"/>
          </a:xfrm>
          <a:prstGeom prst="rect">
            <a:avLst/>
          </a:prstGeom>
          <a:solidFill>
            <a:srgbClr val="F0F4F8"/>
          </a:solidFill>
          <a:ln w="12700">
            <a:solidFill>
              <a:srgbClr val="14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0" y="2606040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45A72"/>
                </a:solidFill>
                <a:latin typeface="Malgun Gothic"/>
              </a:rPr>
              <a:t>60mm × 35mm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880360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6C757D"/>
                </a:solidFill>
                <a:latin typeface="Malgun Gothic"/>
              </a:rPr>
              <a:t>배열: 3×8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246120"/>
            <a:ext cx="2377440" cy="27432"/>
          </a:xfrm>
          <a:prstGeom prst="rect">
            <a:avLst/>
          </a:prstGeom>
          <a:solidFill>
            <a:srgbClr val="CE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37560" y="335584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C757D"/>
                </a:solidFill>
                <a:latin typeface="Malgun Gothic"/>
              </a:rPr>
              <a:t>권장 용도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593592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212529"/>
                </a:solidFill>
                <a:latin typeface="Malgun Gothic"/>
              </a:rPr>
              <a:t>소형 샘플·바이알
시험관 라벨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960120"/>
            <a:ext cx="2651760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960120"/>
            <a:ext cx="2651760" cy="475488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44768" y="1005840"/>
            <a:ext cx="2423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아이라벨  CL812MP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1200686"/>
            <a:ext cx="53732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ADD8E6"/>
                </a:solidFill>
                <a:latin typeface="Malgun Gothic"/>
              </a:rPr>
              <a:t>(2칸)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24075" y="1572768"/>
            <a:ext cx="1873688" cy="816428"/>
          </a:xfrm>
          <a:prstGeom prst="rect">
            <a:avLst/>
          </a:prstGeom>
          <a:solidFill>
            <a:srgbClr val="F0F4F8"/>
          </a:solidFill>
          <a:ln w="12700">
            <a:solidFill>
              <a:srgbClr val="1B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0" y="2606040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2B4B"/>
                </a:solidFill>
                <a:latin typeface="Malgun Gothic"/>
              </a:rPr>
              <a:t>196mm × 125mm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2880360"/>
            <a:ext cx="2468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>
                <a:solidFill>
                  <a:srgbClr val="6C757D"/>
                </a:solidFill>
                <a:latin typeface="Malgun Gothic"/>
              </a:rPr>
              <a:t>배열: 1×2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246120"/>
            <a:ext cx="2377440" cy="27432"/>
          </a:xfrm>
          <a:prstGeom prst="rect">
            <a:avLst/>
          </a:prstGeom>
          <a:solidFill>
            <a:srgbClr val="CE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72200" y="3355848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6C757D"/>
                </a:solidFill>
                <a:latin typeface="Malgun Gothic"/>
              </a:rPr>
              <a:t>권장 용도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593592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212529"/>
                </a:solidFill>
                <a:latin typeface="Malgun Gothic"/>
              </a:rPr>
              <a:t>대형 드럼·탱크
원료 보관 용기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8229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08  주의사항 &amp;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2B0AA"/>
                </a:solidFill>
                <a:latin typeface="Malgun Gothic"/>
              </a:rPr>
              <a:t>올바른 사용을 위한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4160520" cy="3886200"/>
          </a:xfrm>
          <a:prstGeom prst="rect">
            <a:avLst/>
          </a:prstGeom>
          <a:solidFill>
            <a:srgbClr val="F0F4F8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416052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840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⚠  주의사항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35608"/>
            <a:ext cx="3977639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5C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517904"/>
            <a:ext cx="201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Malgun Gothic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90472"/>
            <a:ext cx="3611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Malgun Gothic"/>
              </a:rPr>
              <a:t>자동 추출 결과는 참고용입니다.
최종 인쇄 전 원본 MSDS와 반드시 대조하세요.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40280"/>
            <a:ext cx="3977639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5C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2322576"/>
            <a:ext cx="201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Malgun Gothic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95144"/>
            <a:ext cx="3611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Malgun Gothic"/>
              </a:rPr>
              <a:t>스캔 PDF는 인식률이 낮습니다.
텍스트 레이어가 있는 원본 PDF를 사용하세요.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44952"/>
            <a:ext cx="3977639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5C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3127248"/>
            <a:ext cx="201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Malgun Gothic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5"/>
            <a:ext cx="3611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Malgun Gothic"/>
              </a:rPr>
              <a:t>법적 효력이 있는 라벨은 안전보건공단
규정에 따라 별도 검토가 필요합니다.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49624"/>
            <a:ext cx="3977639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5C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931920"/>
            <a:ext cx="201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Malgun Gothic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04487"/>
            <a:ext cx="3611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Malgun Gothic"/>
              </a:rPr>
              <a:t>인쇄 전 라벨 규격(아이라벨 종류)이
실제 라벨지와 일치하는지 확인하세요.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960120"/>
            <a:ext cx="4160520" cy="3886200"/>
          </a:xfrm>
          <a:prstGeom prst="rect">
            <a:avLst/>
          </a:prstGeom>
          <a:solidFill>
            <a:srgbClr val="F0F4F8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960120"/>
            <a:ext cx="4160520" cy="365760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73168" y="1024128"/>
            <a:ext cx="3840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💬  자주 묻는 질문 (FAQ)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6592" y="1435608"/>
            <a:ext cx="400507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28032" y="1481328"/>
            <a:ext cx="38221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8E8E"/>
                </a:solidFill>
                <a:latin typeface="Malgun Gothic"/>
              </a:rPr>
              <a:t>Q. 제품명이 잘못 추출됐어요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1764792"/>
            <a:ext cx="382219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Malgun Gothic"/>
              </a:rPr>
              <a:t>편집 패널의 제품명 칸을 직접 수정하면 됩니다.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36592" y="2276856"/>
            <a:ext cx="400507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28032" y="2322576"/>
            <a:ext cx="38221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8E8E"/>
                </a:solidFill>
                <a:latin typeface="Malgun Gothic"/>
              </a:rPr>
              <a:t>Q. 그림문자가 자동 선택 안 돼요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2606040"/>
            <a:ext cx="382219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Malgun Gothic"/>
              </a:rPr>
              <a:t>H코드 기반 자동 선택 후 미체크 항목은
수동으로 체크하세요.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6592" y="3118104"/>
            <a:ext cx="400507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28032" y="3163824"/>
            <a:ext cx="38221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8E8E"/>
                </a:solidFill>
                <a:latin typeface="Malgun Gothic"/>
              </a:rPr>
              <a:t>Q. 인쇄 시 라벨 위치가 안 맞아요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8032" y="3447288"/>
            <a:ext cx="382219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212529"/>
                </a:solidFill>
                <a:latin typeface="Malgun Gothic"/>
              </a:rPr>
              <a:t>브라우저 인쇄 설정에서 여백을
'없음' 또는 '최소'로 설정하세요.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36592" y="3959352"/>
            <a:ext cx="400507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28032" y="4005072"/>
            <a:ext cx="38221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0D8E8E"/>
                </a:solidFill>
                <a:latin typeface="Malgun Gothic"/>
              </a:rPr>
              <a:t>Q. 프로그램 실행이 안 돼요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5828" y="4187952"/>
            <a:ext cx="385554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212529"/>
                </a:solidFill>
                <a:latin typeface="Malgun Gothic"/>
              </a:rPr>
              <a:t>MSDS_Label_Maker.exe </a:t>
            </a:r>
            <a:r>
              <a:rPr sz="1000" b="0" i="0" dirty="0" err="1">
                <a:solidFill>
                  <a:srgbClr val="212529"/>
                </a:solidFill>
                <a:latin typeface="Malgun Gothic"/>
              </a:rPr>
              <a:t>더블클릭</a:t>
            </a:r>
            <a:r>
              <a:rPr sz="1000" b="0" i="0" dirty="0">
                <a:solidFill>
                  <a:srgbClr val="212529"/>
                </a:solidFill>
                <a:latin typeface="Malgun Gothic"/>
              </a:rPr>
              <a:t> 후
</a:t>
            </a:r>
            <a:r>
              <a:rPr sz="1000" b="0" i="0" dirty="0" err="1">
                <a:solidFill>
                  <a:srgbClr val="212529"/>
                </a:solidFill>
                <a:latin typeface="Malgun Gothic"/>
              </a:rPr>
              <a:t>브라우저가</a:t>
            </a:r>
            <a:r>
              <a:rPr sz="1000" b="0" i="0" dirty="0">
                <a:solidFill>
                  <a:srgbClr val="212529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212529"/>
                </a:solidFill>
                <a:latin typeface="Malgun Gothic"/>
              </a:rPr>
              <a:t>자동으로</a:t>
            </a:r>
            <a:r>
              <a:rPr sz="1000" b="0" i="0" dirty="0">
                <a:solidFill>
                  <a:srgbClr val="212529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212529"/>
                </a:solidFill>
                <a:latin typeface="Malgun Gothic"/>
              </a:rPr>
              <a:t>열립니다</a:t>
            </a:r>
            <a:r>
              <a:rPr sz="1000" b="0" i="0" dirty="0">
                <a:solidFill>
                  <a:srgbClr val="212529"/>
                </a:solidFill>
                <a:latin typeface="Malgun Gothic"/>
              </a:rPr>
              <a:t>.</a:t>
            </a:r>
            <a:r>
              <a:rPr lang="en-US" sz="1000" b="0" i="0" dirty="0">
                <a:solidFill>
                  <a:srgbClr val="212529"/>
                </a:solidFill>
                <a:latin typeface="Malgun Gothic"/>
              </a:rPr>
              <a:t> </a:t>
            </a:r>
            <a:r>
              <a:rPr lang="ko-KR" altLang="en-US" sz="1000" b="0" i="0" dirty="0">
                <a:solidFill>
                  <a:srgbClr val="212529"/>
                </a:solidFill>
                <a:latin typeface="Malgun Gothic"/>
              </a:rPr>
              <a:t>해당 프로그램은 </a:t>
            </a:r>
            <a:r>
              <a:rPr lang="en-US" altLang="ko-KR" sz="1000" b="0" i="0" dirty="0">
                <a:solidFill>
                  <a:srgbClr val="212529"/>
                </a:solidFill>
                <a:latin typeface="Malgun Gothic"/>
              </a:rPr>
              <a:t>64bit </a:t>
            </a:r>
            <a:r>
              <a:rPr lang="ko-KR" altLang="en-US" sz="1000" b="0" i="0" dirty="0">
                <a:solidFill>
                  <a:srgbClr val="212529"/>
                </a:solidFill>
                <a:latin typeface="Malgun Gothic"/>
              </a:rPr>
              <a:t>전용으로</a:t>
            </a:r>
            <a:endParaRPr lang="en-US" altLang="ko-KR" sz="1000" b="0" i="0" dirty="0">
              <a:solidFill>
                <a:srgbClr val="212529"/>
              </a:solidFill>
              <a:latin typeface="Malgun Gothic"/>
            </a:endParaRPr>
          </a:p>
          <a:p>
            <a:pPr algn="l"/>
            <a:r>
              <a:rPr lang="en-US" sz="1000" dirty="0">
                <a:solidFill>
                  <a:srgbClr val="212529"/>
                </a:solidFill>
                <a:latin typeface="Malgun Gothic"/>
              </a:rPr>
              <a:t>32bit </a:t>
            </a:r>
            <a:r>
              <a:rPr lang="ko-KR" altLang="en-US" sz="1000" dirty="0">
                <a:solidFill>
                  <a:srgbClr val="212529"/>
                </a:solidFill>
                <a:latin typeface="Malgun Gothic"/>
              </a:rPr>
              <a:t>사용자는 사용이 제한됩니다</a:t>
            </a:r>
            <a:r>
              <a:rPr lang="en-US" altLang="ko-KR" sz="1000" dirty="0">
                <a:solidFill>
                  <a:srgbClr val="212529"/>
                </a:solidFill>
                <a:latin typeface="Malgun Gothic"/>
              </a:rPr>
              <a:t>.</a:t>
            </a:r>
            <a:endParaRPr sz="1000" b="0" i="0" dirty="0">
              <a:solidFill>
                <a:srgbClr val="212529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60520" y="1097280"/>
            <a:ext cx="914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0" i="0">
                <a:solidFill>
                  <a:srgbClr val="0D8E8E"/>
                </a:solidFill>
                <a:latin typeface="Malgun Gothic"/>
              </a:rPr>
              <a:t>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73152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MSDS Label Maker v2.1.0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7315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02B0AA"/>
                </a:solidFill>
                <a:latin typeface="Malgun Gothic"/>
              </a:rPr>
              <a:t>GHS 경고표지 자동 생성 도구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926080"/>
            <a:ext cx="2194560" cy="36576"/>
          </a:xfrm>
          <a:prstGeom prst="rect">
            <a:avLst/>
          </a:prstGeom>
          <a:solidFill>
            <a:srgbClr val="02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22776" y="3063240"/>
            <a:ext cx="36984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 dirty="0" err="1">
                <a:solidFill>
                  <a:srgbClr val="6C757D"/>
                </a:solidFill>
                <a:latin typeface="Malgun Gothic"/>
              </a:rPr>
              <a:t>LX글라스</a:t>
            </a:r>
            <a:r>
              <a:rPr sz="1200" b="1" i="0" dirty="0">
                <a:solidFill>
                  <a:srgbClr val="6C757D"/>
                </a:solidFill>
                <a:latin typeface="Malgun Gothic"/>
              </a:rPr>
              <a:t>㈜  </a:t>
            </a:r>
            <a:r>
              <a:rPr sz="1200" b="1" i="0" dirty="0" err="1">
                <a:solidFill>
                  <a:srgbClr val="6C757D"/>
                </a:solidFill>
                <a:latin typeface="Malgun Gothic"/>
              </a:rPr>
              <a:t>연구기획팀</a:t>
            </a:r>
            <a:r>
              <a:rPr sz="1200" b="1" i="0" dirty="0">
                <a:solidFill>
                  <a:srgbClr val="6C757D"/>
                </a:solidFill>
                <a:latin typeface="Malgun Gothic"/>
              </a:rPr>
              <a:t>  |  박재영  |  2026-06-1</a:t>
            </a:r>
            <a:r>
              <a:rPr lang="en-US" sz="1200" b="1" i="0" dirty="0">
                <a:solidFill>
                  <a:srgbClr val="6C757D"/>
                </a:solidFill>
                <a:latin typeface="Malgun Gothic"/>
              </a:rPr>
              <a:t>5</a:t>
            </a:r>
            <a:endParaRPr sz="1200" b="1" i="0" dirty="0">
              <a:solidFill>
                <a:srgbClr val="6C757D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0979" y="3438144"/>
            <a:ext cx="348204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 dirty="0" err="1">
                <a:solidFill>
                  <a:srgbClr val="6C757D"/>
                </a:solidFill>
                <a:latin typeface="Malgun Gothic"/>
              </a:rPr>
              <a:t>문의</a:t>
            </a:r>
            <a:r>
              <a:rPr sz="1100" b="1" i="0" dirty="0">
                <a:solidFill>
                  <a:srgbClr val="6C757D"/>
                </a:solidFill>
                <a:latin typeface="Malgun Gothic"/>
              </a:rPr>
              <a:t> 및 </a:t>
            </a:r>
            <a:r>
              <a:rPr sz="1100" b="1" i="0" dirty="0" err="1">
                <a:solidFill>
                  <a:srgbClr val="6C757D"/>
                </a:solidFill>
                <a:latin typeface="Malgun Gothic"/>
              </a:rPr>
              <a:t>개선</a:t>
            </a:r>
            <a:r>
              <a:rPr sz="1100" b="1" i="0" dirty="0">
                <a:solidFill>
                  <a:srgbClr val="6C757D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6C757D"/>
                </a:solidFill>
                <a:latin typeface="Malgun Gothic"/>
              </a:rPr>
              <a:t>요청은</a:t>
            </a:r>
            <a:r>
              <a:rPr sz="1100" b="1" i="0" dirty="0">
                <a:solidFill>
                  <a:srgbClr val="6C757D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6C757D"/>
                </a:solidFill>
                <a:latin typeface="Malgun Gothic"/>
              </a:rPr>
              <a:t>연구기획팀으로</a:t>
            </a:r>
            <a:r>
              <a:rPr sz="1100" b="1" i="0" dirty="0">
                <a:solidFill>
                  <a:srgbClr val="6C757D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6C757D"/>
                </a:solidFill>
                <a:latin typeface="Malgun Gothic"/>
              </a:rPr>
              <a:t>연락해</a:t>
            </a:r>
            <a:r>
              <a:rPr sz="1100" b="1" i="0" dirty="0">
                <a:solidFill>
                  <a:srgbClr val="6C757D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6C757D"/>
                </a:solidFill>
                <a:latin typeface="Malgun Gothic"/>
              </a:rPr>
              <a:t>주세요</a:t>
            </a:r>
            <a:r>
              <a:rPr sz="1100" b="1" i="0" dirty="0">
                <a:solidFill>
                  <a:srgbClr val="6C757D"/>
                </a:solidFill>
                <a:latin typeface="Malgun Gothic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4160520"/>
            <a:ext cx="4572000" cy="658368"/>
          </a:xfrm>
          <a:prstGeom prst="rect">
            <a:avLst/>
          </a:prstGeom>
          <a:solidFill>
            <a:srgbClr val="0D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08110" y="4270248"/>
            <a:ext cx="312778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i="0" dirty="0" err="1">
                <a:solidFill>
                  <a:srgbClr val="FFFFFF"/>
                </a:solidFill>
                <a:latin typeface="Malgun Gothic"/>
              </a:rPr>
              <a:t>사용</a:t>
            </a:r>
            <a:r>
              <a:rPr sz="1050" b="0" i="0" dirty="0">
                <a:solidFill>
                  <a:srgbClr val="FFFFFF"/>
                </a:solidFill>
                <a:latin typeface="Malgun Gothic"/>
              </a:rPr>
              <a:t> 중 </a:t>
            </a:r>
            <a:r>
              <a:rPr sz="1050" b="0" i="0" dirty="0" err="1">
                <a:solidFill>
                  <a:srgbClr val="FFFFFF"/>
                </a:solidFill>
                <a:latin typeface="Malgun Gothic"/>
              </a:rPr>
              <a:t>오류</a:t>
            </a:r>
            <a:r>
              <a:rPr sz="10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FFFFFF"/>
                </a:solidFill>
                <a:latin typeface="Malgun Gothic"/>
              </a:rPr>
              <a:t>발생</a:t>
            </a:r>
            <a:r>
              <a:rPr sz="1050" b="0" i="0" dirty="0">
                <a:solidFill>
                  <a:srgbClr val="FFFFFF"/>
                </a:solidFill>
                <a:latin typeface="Malgun Gothic"/>
              </a:rPr>
              <a:t> 시 </a:t>
            </a:r>
            <a:r>
              <a:rPr sz="1050" b="0" i="0" dirty="0" err="1">
                <a:solidFill>
                  <a:srgbClr val="FFFFFF"/>
                </a:solidFill>
                <a:latin typeface="Malgun Gothic"/>
              </a:rPr>
              <a:t>내용과</a:t>
            </a:r>
            <a:r>
              <a:rPr sz="10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FFFFFF"/>
                </a:solidFill>
                <a:latin typeface="Malgun Gothic"/>
              </a:rPr>
              <a:t>함께</a:t>
            </a:r>
            <a:r>
              <a:rPr sz="10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FFFFFF"/>
                </a:solidFill>
                <a:latin typeface="Malgun Gothic"/>
              </a:rPr>
              <a:t>문의</a:t>
            </a:r>
            <a:r>
              <a:rPr lang="en-US" sz="10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ko-KR" altLang="en-US" sz="1050" b="0" i="0" dirty="0">
                <a:solidFill>
                  <a:srgbClr val="FFFFFF"/>
                </a:solidFill>
                <a:latin typeface="Malgun Gothic"/>
              </a:rPr>
              <a:t>바랍니다</a:t>
            </a:r>
            <a:r>
              <a:rPr lang="en-US" altLang="ko-KR" sz="1050" b="0" i="0" dirty="0">
                <a:solidFill>
                  <a:srgbClr val="FFFFFF"/>
                </a:solidFill>
                <a:latin typeface="Malgun Gothic"/>
              </a:rPr>
              <a:t>.</a:t>
            </a:r>
            <a:endParaRPr sz="1050" b="0" i="0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1185</Words>
  <Application>Microsoft Office PowerPoint</Application>
  <PresentationFormat>화면 슬라이드 쇼(16:9)</PresentationFormat>
  <Paragraphs>217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박재영</dc:creator>
  <cp:keywords/>
  <dc:description>generated using python-pptx</dc:description>
  <cp:lastModifiedBy>박재영</cp:lastModifiedBy>
  <cp:revision>3</cp:revision>
  <dcterms:created xsi:type="dcterms:W3CDTF">2013-01-27T09:14:16Z</dcterms:created>
  <dcterms:modified xsi:type="dcterms:W3CDTF">2026-06-16T02:41:52Z</dcterms:modified>
  <cp:category/>
</cp:coreProperties>
</file>